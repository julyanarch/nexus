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304" r:id="rId6"/>
    <p:sldId id="325" r:id="rId7"/>
    <p:sldId id="298" r:id="rId8"/>
    <p:sldId id="331" r:id="rId52"/>
    <p:sldId id="259" r:id="rId9"/>
    <p:sldId id="321" r:id="rId10"/>
    <p:sldId id="320" r:id="rId11"/>
    <p:sldId id="326" r:id="rId12"/>
    <p:sldId id="327" r:id="rId13"/>
    <p:sldId id="328" r:id="rId14"/>
    <p:sldId id="332" r:id="rId59"/>
    <p:sldId id="333" r:id="rId60"/>
    <p:sldId id="334" r:id="rId61"/>
    <p:sldId id="329" r:id="rId15"/>
    <p:sldId id="335" r:id="rId62"/>
    <p:sldId id="336" r:id="rId63"/>
    <p:sldId id="330" r:id="rId16"/>
    <p:sldId id="296" r:id="rId34"/>
  </p:sldIdLst>
  <p:sldSz cx="12192000" cy="6858000"/>
  <p:notesSz cx="6858000" cy="9144000"/>
  <p:embeddedFontLst>
    <p:embeddedFont>
      <p:font typeface="IBM Plex Mono" panose="020B0509050203000203" pitchFamily="49" charset="0"/>
      <p:regular r:id="rId36"/>
      <p:bold r:id="rId37"/>
      <p:italic r:id="rId38"/>
      <p:boldItalic r:id="rId39"/>
    </p:embeddedFont>
    <p:embeddedFont>
      <p:font typeface="IBM Plex Sans" panose="020B0503050203000203" pitchFamily="34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272">
          <p15:clr>
            <a:srgbClr val="A4A3A4"/>
          </p15:clr>
        </p15:guide>
        <p15:guide id="2" pos="42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432">
          <p15:clr>
            <a:srgbClr val="A4A3A4"/>
          </p15:clr>
        </p15:guide>
        <p15:guide id="5" orient="horz" pos="91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hk+2wf+jctkf9MwIEIs520gWMN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F6885-8CD7-2DEF-5862-597B174C00FD}" v="82" dt="2026-09-16T14:02:16.858"/>
    <p1510:client id="{F8765461-C8A3-2A63-4FD7-F2A9CBE6BC04}" v="831" dt="2026-09-16T18:01:4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7272"/>
        <p:guide pos="420"/>
        <p:guide orient="horz" pos="3888"/>
        <p:guide orient="horz" pos="432"/>
        <p:guide orient="horz" pos="914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34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font" Target="fonts/font12.fntdata"/><Relationship Id="rId48" Type="http://schemas.openxmlformats.org/officeDocument/2006/relationships/font" Target="fonts/font13.fntdata"/><Relationship Id="rId49" Type="http://schemas.openxmlformats.org/officeDocument/2006/relationships/font" Target="fonts/font14.fntdata"/><Relationship Id="rId50" Type="http://schemas.openxmlformats.org/officeDocument/2006/relationships/font" Target="fonts/font15.fntdata"/><Relationship Id="rId51" Type="http://schemas.openxmlformats.org/officeDocument/2006/relationships/font" Target="fonts/font16.fntdata"/><Relationship Id="rId52" Type="http://schemas.openxmlformats.org/officeDocument/2006/relationships/slide" Target="slides/slide31.xml"/><Relationship Id="rId53" Type="http://customschemas.google.com/relationships/presentationmetadata" Target="meta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5/10/relationships/revisionInfo" Target="revisionInfo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1" Type="http://schemas.openxmlformats.org/officeDocument/2006/relationships/slide" Target="slides/slide34.xml"/><Relationship Id="rId62" Type="http://schemas.openxmlformats.org/officeDocument/2006/relationships/slide" Target="slides/slide35.xml"/><Relationship Id="rId6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9B534C0E-7B70-DA99-F1E8-66711871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>
            <a:extLst>
              <a:ext uri="{FF2B5EF4-FFF2-40B4-BE49-F238E27FC236}">
                <a16:creationId xmlns:a16="http://schemas.microsoft.com/office/drawing/2014/main" id="{32045C17-891C-2205-9D32-D64DBDD1B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4:notes">
            <a:extLst>
              <a:ext uri="{FF2B5EF4-FFF2-40B4-BE49-F238E27FC236}">
                <a16:creationId xmlns:a16="http://schemas.microsoft.com/office/drawing/2014/main" id="{CADAD56D-FF0F-6957-CEDD-F3E4956D7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957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6" name="Google Shape;112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7" name="Google Shape;1127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720445"/>
            <a:ext cx="2590050" cy="10252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8"/>
          <p:cNvSpPr>
            <a:spLocks noGrp="1"/>
          </p:cNvSpPr>
          <p:nvPr>
            <p:ph type="pic" idx="2"/>
          </p:nvPr>
        </p:nvSpPr>
        <p:spPr>
          <a:xfrm>
            <a:off x="7143750" y="1460501"/>
            <a:ext cx="3578677" cy="4711700"/>
          </a:xfrm>
          <a:prstGeom prst="roundRect">
            <a:avLst>
              <a:gd name="adj" fmla="val 438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9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20670" y="1896262"/>
            <a:ext cx="5274527" cy="5274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5605" y="-308758"/>
            <a:ext cx="6727838" cy="7481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620" y="720445"/>
            <a:ext cx="2590050" cy="102522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9"/>
          <p:cNvSpPr>
            <a:spLocks noGrp="1"/>
          </p:cNvSpPr>
          <p:nvPr>
            <p:ph type="pic" idx="2"/>
          </p:nvPr>
        </p:nvSpPr>
        <p:spPr>
          <a:xfrm>
            <a:off x="6602681" y="-1"/>
            <a:ext cx="6219939" cy="6858001"/>
          </a:xfrm>
          <a:prstGeom prst="roundRect">
            <a:avLst>
              <a:gd name="adj" fmla="val 438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7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0"/>
          <p:cNvSpPr>
            <a:spLocks noGrp="1"/>
          </p:cNvSpPr>
          <p:nvPr>
            <p:ph type="pic" idx="2"/>
          </p:nvPr>
        </p:nvSpPr>
        <p:spPr>
          <a:xfrm>
            <a:off x="-465399" y="0"/>
            <a:ext cx="5577665" cy="6858000"/>
          </a:xfrm>
          <a:prstGeom prst="roundRect">
            <a:avLst>
              <a:gd name="adj" fmla="val 273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9_Title Slide 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1"/>
          <p:cNvSpPr>
            <a:spLocks noGrp="1"/>
          </p:cNvSpPr>
          <p:nvPr>
            <p:ph type="pic" idx="2"/>
          </p:nvPr>
        </p:nvSpPr>
        <p:spPr>
          <a:xfrm>
            <a:off x="4919240" y="-1"/>
            <a:ext cx="7272760" cy="685800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6" name="Google Shape;26;p41"/>
          <p:cNvSpPr/>
          <p:nvPr/>
        </p:nvSpPr>
        <p:spPr>
          <a:xfrm>
            <a:off x="0" y="0"/>
            <a:ext cx="8199783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75000">
                <a:srgbClr val="13416E"/>
              </a:gs>
              <a:gs pos="100000">
                <a:srgbClr val="4396D2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720445"/>
            <a:ext cx="2590050" cy="1025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9_Title Slide 3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7823" y="-30997"/>
            <a:ext cx="2929180" cy="164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7775" y="2726024"/>
            <a:ext cx="3722928" cy="36078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3"/>
          <p:cNvSpPr/>
          <p:nvPr/>
        </p:nvSpPr>
        <p:spPr>
          <a:xfrm>
            <a:off x="6553201" y="2882900"/>
            <a:ext cx="4983163" cy="3289300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>
            <a:spLocks noGrp="1"/>
          </p:cNvSpPr>
          <p:nvPr>
            <p:ph type="pic" idx="2"/>
          </p:nvPr>
        </p:nvSpPr>
        <p:spPr>
          <a:xfrm>
            <a:off x="6553201" y="2882900"/>
            <a:ext cx="4983163" cy="3289300"/>
          </a:xfrm>
          <a:prstGeom prst="roundRect">
            <a:avLst>
              <a:gd name="adj" fmla="val 403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3_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65605" y="-308758"/>
            <a:ext cx="6727838" cy="748145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4"/>
          <p:cNvSpPr>
            <a:spLocks noGrp="1"/>
          </p:cNvSpPr>
          <p:nvPr>
            <p:ph type="pic" idx="2"/>
          </p:nvPr>
        </p:nvSpPr>
        <p:spPr>
          <a:xfrm>
            <a:off x="6602681" y="-1"/>
            <a:ext cx="6219939" cy="6858001"/>
          </a:xfrm>
          <a:prstGeom prst="roundRect">
            <a:avLst>
              <a:gd name="adj" fmla="val 4389"/>
            </a:avLst>
          </a:prstGeom>
          <a:noFill/>
          <a:ln>
            <a:noFill/>
          </a:ln>
        </p:spPr>
      </p:sp>
      <p:pic>
        <p:nvPicPr>
          <p:cNvPr id="41" name="Google Shape;4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4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276AA"/>
              </a:gs>
              <a:gs pos="37000">
                <a:srgbClr val="3276AA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4589" y="481154"/>
            <a:ext cx="1375249" cy="58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332" y="1267946"/>
            <a:ext cx="2917216" cy="282705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6"/>
          <p:cNvSpPr/>
          <p:nvPr/>
        </p:nvSpPr>
        <p:spPr>
          <a:xfrm>
            <a:off x="7186243" y="1393443"/>
            <a:ext cx="3904712" cy="2577433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6"/>
          <p:cNvSpPr>
            <a:spLocks noGrp="1"/>
          </p:cNvSpPr>
          <p:nvPr>
            <p:ph type="pic" idx="2"/>
          </p:nvPr>
        </p:nvSpPr>
        <p:spPr>
          <a:xfrm>
            <a:off x="7186243" y="1393443"/>
            <a:ext cx="3904712" cy="2577433"/>
          </a:xfrm>
          <a:prstGeom prst="roundRect">
            <a:avLst>
              <a:gd name="adj" fmla="val 241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5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276AA"/>
              </a:gs>
              <a:gs pos="37000">
                <a:srgbClr val="3276AA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4589" y="481154"/>
            <a:ext cx="1375249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6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E29"/>
              </a:gs>
              <a:gs pos="14000">
                <a:srgbClr val="161E29"/>
              </a:gs>
              <a:gs pos="100000">
                <a:srgbClr val="26737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309" y="481154"/>
            <a:ext cx="1303808" cy="58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332" y="1267946"/>
            <a:ext cx="2917216" cy="282705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8"/>
          <p:cNvSpPr/>
          <p:nvPr/>
        </p:nvSpPr>
        <p:spPr>
          <a:xfrm>
            <a:off x="7186243" y="1393443"/>
            <a:ext cx="3904712" cy="2577433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>
            <a:spLocks noGrp="1"/>
          </p:cNvSpPr>
          <p:nvPr>
            <p:ph type="pic" idx="2"/>
          </p:nvPr>
        </p:nvSpPr>
        <p:spPr>
          <a:xfrm>
            <a:off x="7186243" y="1393443"/>
            <a:ext cx="3904712" cy="2577433"/>
          </a:xfrm>
          <a:prstGeom prst="roundRect">
            <a:avLst>
              <a:gd name="adj" fmla="val 2410"/>
            </a:avLst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7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E29"/>
              </a:gs>
              <a:gs pos="14000">
                <a:srgbClr val="161E29"/>
              </a:gs>
              <a:gs pos="100000">
                <a:srgbClr val="26737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309" y="481154"/>
            <a:ext cx="1303808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8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E29"/>
              </a:gs>
              <a:gs pos="14000">
                <a:srgbClr val="161E29"/>
              </a:gs>
              <a:gs pos="100000">
                <a:srgbClr val="D2692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309" y="481154"/>
            <a:ext cx="1303808" cy="587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332" y="1267946"/>
            <a:ext cx="2917216" cy="282705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0"/>
          <p:cNvSpPr/>
          <p:nvPr/>
        </p:nvSpPr>
        <p:spPr>
          <a:xfrm>
            <a:off x="7186243" y="1393443"/>
            <a:ext cx="3904712" cy="2577433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0"/>
          <p:cNvSpPr>
            <a:spLocks noGrp="1"/>
          </p:cNvSpPr>
          <p:nvPr>
            <p:ph type="pic" idx="2"/>
          </p:nvPr>
        </p:nvSpPr>
        <p:spPr>
          <a:xfrm>
            <a:off x="7186243" y="1393443"/>
            <a:ext cx="3904712" cy="2577433"/>
          </a:xfrm>
          <a:prstGeom prst="roundRect">
            <a:avLst>
              <a:gd name="adj" fmla="val 2410"/>
            </a:avLst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9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E29"/>
              </a:gs>
              <a:gs pos="14000">
                <a:srgbClr val="161E29"/>
              </a:gs>
              <a:gs pos="100000">
                <a:srgbClr val="D2692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309" y="481154"/>
            <a:ext cx="1303808" cy="58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7_Title Slide 10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/>
          <p:nvPr/>
        </p:nvSpPr>
        <p:spPr>
          <a:xfrm>
            <a:off x="0" y="9093"/>
            <a:ext cx="12192000" cy="6858000"/>
          </a:xfrm>
          <a:prstGeom prst="rect">
            <a:avLst/>
          </a:prstGeom>
          <a:gradFill>
            <a:gsLst>
              <a:gs pos="0">
                <a:srgbClr val="161E29"/>
              </a:gs>
              <a:gs pos="14000">
                <a:srgbClr val="161E29"/>
              </a:gs>
              <a:gs pos="100000">
                <a:srgbClr val="D2692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3438093"/>
            <a:ext cx="2988150" cy="28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2"/>
          <p:cNvSpPr/>
          <p:nvPr/>
        </p:nvSpPr>
        <p:spPr>
          <a:xfrm>
            <a:off x="826047" y="3532094"/>
            <a:ext cx="3999657" cy="2640105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2"/>
          <p:cNvSpPr>
            <a:spLocks noGrp="1"/>
          </p:cNvSpPr>
          <p:nvPr>
            <p:ph type="pic" idx="2"/>
          </p:nvPr>
        </p:nvSpPr>
        <p:spPr>
          <a:xfrm>
            <a:off x="799151" y="3532094"/>
            <a:ext cx="4026553" cy="2707341"/>
          </a:xfrm>
          <a:prstGeom prst="roundRect">
            <a:avLst>
              <a:gd name="adj" fmla="val 4031"/>
            </a:avLst>
          </a:prstGeom>
          <a:solidFill>
            <a:srgbClr val="D26925"/>
          </a:solidFill>
          <a:ln>
            <a:noFill/>
          </a:ln>
        </p:spPr>
      </p:sp>
      <p:pic>
        <p:nvPicPr>
          <p:cNvPr id="77" name="Google Shape;7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309" y="481154"/>
            <a:ext cx="1303808" cy="58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9_Title Slide 4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7823" y="-30997"/>
            <a:ext cx="2929180" cy="164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2002" y="3429000"/>
            <a:ext cx="3987800" cy="39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3_Title Slide 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4"/>
          <p:cNvSpPr>
            <a:spLocks noGrp="1"/>
          </p:cNvSpPr>
          <p:nvPr>
            <p:ph type="pic" idx="2"/>
          </p:nvPr>
        </p:nvSpPr>
        <p:spPr>
          <a:xfrm>
            <a:off x="4919240" y="-1"/>
            <a:ext cx="7272760" cy="685800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85" name="Google Shape;85;p54"/>
          <p:cNvSpPr/>
          <p:nvPr/>
        </p:nvSpPr>
        <p:spPr>
          <a:xfrm>
            <a:off x="0" y="0"/>
            <a:ext cx="8199783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75000">
                <a:srgbClr val="13416E"/>
              </a:gs>
              <a:gs pos="100000">
                <a:srgbClr val="4396D2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Slide">
  <p:cSld name="35_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92397" y="2464497"/>
            <a:ext cx="4807205" cy="192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7780" y="3328737"/>
            <a:ext cx="4769734" cy="476973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5"/>
          <p:cNvSpPr txBox="1"/>
          <p:nvPr/>
        </p:nvSpPr>
        <p:spPr>
          <a:xfrm>
            <a:off x="4554831" y="4750325"/>
            <a:ext cx="2693461" cy="46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www.grupothink.com.br</a:t>
            </a:r>
            <a:endParaRPr sz="1800" b="1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6"/>
          <p:cNvSpPr>
            <a:spLocks noGrp="1"/>
          </p:cNvSpPr>
          <p:nvPr>
            <p:ph type="pic" idx="2"/>
          </p:nvPr>
        </p:nvSpPr>
        <p:spPr>
          <a:xfrm>
            <a:off x="630620" y="720445"/>
            <a:ext cx="4433957" cy="5451756"/>
          </a:xfrm>
          <a:prstGeom prst="roundRect">
            <a:avLst>
              <a:gd name="adj" fmla="val 2730"/>
            </a:avLst>
          </a:prstGeom>
          <a:noFill/>
          <a:ln>
            <a:noFill/>
          </a:ln>
        </p:spPr>
      </p:sp>
      <p:pic>
        <p:nvPicPr>
          <p:cNvPr id="95" name="Google Shape;9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1330" y="720445"/>
            <a:ext cx="2590050" cy="1025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9_Title Slide 5"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82002" y="3429000"/>
            <a:ext cx="3987800" cy="39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7823" y="-30997"/>
            <a:ext cx="2929180" cy="164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9_Title Slide 6">
    <p:bg>
      <p:bgPr>
        <a:solidFill>
          <a:schemeClr val="l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7823" y="-30997"/>
            <a:ext cx="2929180" cy="164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9_Title Slide 7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/>
              </a:gs>
              <a:gs pos="50000">
                <a:srgbClr val="13416E"/>
              </a:gs>
              <a:gs pos="100000">
                <a:srgbClr val="4396D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620" y="3438093"/>
            <a:ext cx="2988150" cy="28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9"/>
          <p:cNvSpPr/>
          <p:nvPr/>
        </p:nvSpPr>
        <p:spPr>
          <a:xfrm>
            <a:off x="826047" y="3532094"/>
            <a:ext cx="3999657" cy="2640105"/>
          </a:xfrm>
          <a:prstGeom prst="roundRect">
            <a:avLst>
              <a:gd name="adj" fmla="val 2767"/>
            </a:avLst>
          </a:prstGeom>
          <a:solidFill>
            <a:schemeClr val="accent1"/>
          </a:solidFill>
          <a:ln w="25400" cap="flat" cmpd="sng">
            <a:solidFill>
              <a:srgbClr val="081B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9"/>
          <p:cNvSpPr>
            <a:spLocks noGrp="1"/>
          </p:cNvSpPr>
          <p:nvPr>
            <p:ph type="pic" idx="2"/>
          </p:nvPr>
        </p:nvSpPr>
        <p:spPr>
          <a:xfrm>
            <a:off x="799151" y="3532094"/>
            <a:ext cx="4026553" cy="2707341"/>
          </a:xfrm>
          <a:prstGeom prst="roundRect">
            <a:avLst>
              <a:gd name="adj" fmla="val 403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1F29">
                  <a:alpha val="80000"/>
                </a:srgbClr>
              </a:gs>
              <a:gs pos="50000">
                <a:srgbClr val="13416E">
                  <a:alpha val="80000"/>
                </a:srgbClr>
              </a:gs>
              <a:gs pos="99000">
                <a:srgbClr val="4396D2">
                  <a:alpha val="80000"/>
                </a:srgbClr>
              </a:gs>
              <a:gs pos="100000">
                <a:srgbClr val="4396D2">
                  <a:alpha val="8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0"/>
          <p:cNvSpPr/>
          <p:nvPr/>
        </p:nvSpPr>
        <p:spPr>
          <a:xfrm>
            <a:off x="0" y="0"/>
            <a:ext cx="8199783" cy="6858000"/>
          </a:xfrm>
          <a:prstGeom prst="rect">
            <a:avLst/>
          </a:prstGeom>
          <a:gradFill>
            <a:gsLst>
              <a:gs pos="0">
                <a:srgbClr val="151F29">
                  <a:alpha val="94901"/>
                </a:srgbClr>
              </a:gs>
              <a:gs pos="23000">
                <a:srgbClr val="13416E">
                  <a:alpha val="85098"/>
                </a:srgbClr>
              </a:gs>
              <a:gs pos="63000">
                <a:srgbClr val="4396D2">
                  <a:alpha val="0"/>
                </a:srgbClr>
              </a:gs>
              <a:gs pos="100000">
                <a:srgbClr val="4396D2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620" y="481154"/>
            <a:ext cx="1483188" cy="58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6948" y="2055012"/>
            <a:ext cx="5274527" cy="52745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0;p3">
            <a:extLst>
              <a:ext uri="{FF2B5EF4-FFF2-40B4-BE49-F238E27FC236}">
                <a16:creationId xmlns:a16="http://schemas.microsoft.com/office/drawing/2014/main" id="{831CE83F-C957-07C7-08D2-4F0BB2A8AE53}"/>
              </a:ext>
            </a:extLst>
          </p:cNvPr>
          <p:cNvSpPr txBox="1"/>
          <p:nvPr/>
        </p:nvSpPr>
        <p:spPr>
          <a:xfrm>
            <a:off x="4430294" y="2582866"/>
            <a:ext cx="332688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NEXUS</a:t>
            </a:r>
            <a:endParaRPr lang="pt-BR" b="1">
              <a:solidFill>
                <a:schemeClr val="lt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93D39B-7E73-CF16-D6E9-388853BE8EFB}"/>
              </a:ext>
            </a:extLst>
          </p:cNvPr>
          <p:cNvSpPr txBox="1"/>
          <p:nvPr/>
        </p:nvSpPr>
        <p:spPr>
          <a:xfrm>
            <a:off x="4274943" y="2055520"/>
            <a:ext cx="38570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cap="all">
                <a:solidFill>
                  <a:srgbClr val="8FC6EC"/>
                </a:solidFill>
                <a:latin typeface="IBM Plex Mono"/>
                <a:ea typeface="IBM Plex Mono"/>
                <a:cs typeface="IBM Plex Mono"/>
              </a:rPr>
              <a:t>Apresentação de projeto de estágio</a:t>
            </a:r>
            <a:endParaRPr lang="en-US"/>
          </a:p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073E1E-999C-873F-0E96-1A4FB3B8D56D}"/>
              </a:ext>
            </a:extLst>
          </p:cNvPr>
          <p:cNvSpPr txBox="1"/>
          <p:nvPr/>
        </p:nvSpPr>
        <p:spPr>
          <a:xfrm>
            <a:off x="2285999" y="3836052"/>
            <a:ext cx="783239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Automação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e </a:t>
            </a: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Inteligência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Artificial local para a </a:t>
            </a: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gestão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de </a:t>
            </a: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usuários</a:t>
            </a:r>
            <a:br>
              <a:rPr lang="en-US" sz="1600">
                <a:latin typeface="Segoe UI"/>
                <a:cs typeface="Segoe UI"/>
              </a:rPr>
            </a:b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em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</a:t>
            </a: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múltiplos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</a:t>
            </a:r>
            <a:r>
              <a:rPr lang="en-US" sz="1600" err="1">
                <a:solidFill>
                  <a:srgbClr val="EDE9F7"/>
                </a:solidFill>
                <a:latin typeface="Segoe UI"/>
                <a:cs typeface="Segoe UI"/>
              </a:rPr>
              <a:t>servidores</a:t>
            </a:r>
            <a:r>
              <a:rPr lang="en-US" sz="1600">
                <a:solidFill>
                  <a:srgbClr val="EDE9F7"/>
                </a:solidFill>
                <a:latin typeface="Segoe UI"/>
                <a:cs typeface="Segoe UI"/>
              </a:rPr>
              <a:t> Linux</a:t>
            </a:r>
            <a:endParaRPr lang="pt-BR"/>
          </a:p>
          <a:p>
            <a:endParaRPr lang="en-US" sz="1200">
              <a:solidFill>
                <a:srgbClr val="F4F7F9"/>
              </a:solidFill>
              <a:latin typeface="IBM Plex Sans"/>
            </a:endParaRPr>
          </a:p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12CEEE-5178-37EC-FB46-8A0BE40210B9}"/>
              </a:ext>
            </a:extLst>
          </p:cNvPr>
          <p:cNvSpPr txBox="1"/>
          <p:nvPr/>
        </p:nvSpPr>
        <p:spPr>
          <a:xfrm>
            <a:off x="112888" y="6505224"/>
            <a:ext cx="5569186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4F7F9"/>
                </a:solidFill>
                <a:latin typeface="IBM Plex Sans"/>
              </a:rPr>
              <a:t>Julyana Silva   ·  github.com/</a:t>
            </a:r>
            <a:r>
              <a:rPr lang="en-US" sz="1200" err="1">
                <a:solidFill>
                  <a:srgbClr val="F4F7F9"/>
                </a:solidFill>
                <a:latin typeface="IBM Plex Sans"/>
              </a:rPr>
              <a:t>julyanarch</a:t>
            </a:r>
            <a:r>
              <a:rPr lang="en-US" sz="1200">
                <a:solidFill>
                  <a:srgbClr val="F4F7F9"/>
                </a:solidFill>
                <a:latin typeface="IBM Plex Sans"/>
              </a:rPr>
              <a:t>/NEXUS</a:t>
            </a:r>
          </a:p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373F4F-80EE-370A-B0C5-D1B96C50F3E3}"/>
              </a:ext>
            </a:extLst>
          </p:cNvPr>
          <p:cNvSpPr txBox="1"/>
          <p:nvPr/>
        </p:nvSpPr>
        <p:spPr>
          <a:xfrm>
            <a:off x="2598617" y="1924539"/>
            <a:ext cx="723900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O problema — como a gestão de usuários era feita antes;</a:t>
            </a:r>
          </a:p>
          <a:p>
            <a:pPr algn="ctr"/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A proposta — o que é o NEXUS e seus quatro pilares;</a:t>
            </a:r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 err="1"/>
              <a:t>Fluxo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anterior;</a:t>
            </a:r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Arquitetura e tecnologias utilizadas;</a:t>
            </a:r>
          </a:p>
          <a:p>
            <a:pPr marL="285750" indent="-285750" algn="ctr">
              <a:buFont typeface="Wingdings"/>
              <a:buChar char="Ø"/>
            </a:pPr>
            <a:endParaRPr lang="en-US" dirty="0"/>
          </a:p>
          <a:p>
            <a:pPr marL="285750" indent="-285750" algn="ctr">
              <a:buFont typeface="Wingdings"/>
              <a:buChar char="Ø"/>
            </a:pPr>
            <a:r>
              <a:rPr lang="en-US" dirty="0" err="1"/>
              <a:t>Fluxo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atual</a:t>
            </a:r>
            <a:r>
              <a:rPr lang="en-US" dirty="0"/>
              <a:t>;</a:t>
            </a:r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Evolução do projeto</a:t>
            </a:r>
            <a:endParaRPr lang="en-US"/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Onde entra a IA integrada;</a:t>
            </a:r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Automação, expiração automática e auditoria;</a:t>
            </a:r>
          </a:p>
          <a:p>
            <a:pPr marL="285750" indent="-285750" algn="ctr">
              <a:buFont typeface="Wingdings"/>
              <a:buChar char="Ø"/>
            </a:pPr>
            <a:endParaRPr lang="en-US"/>
          </a:p>
          <a:p>
            <a:pPr marL="285750" indent="-285750" algn="ctr">
              <a:buFont typeface="Wingdings"/>
              <a:buChar char="Ø"/>
            </a:pPr>
            <a:r>
              <a:rPr lang="en-US" dirty="0"/>
              <a:t>Benefícios, riscos, roadmap e demonstração ao vivo.</a:t>
            </a:r>
          </a:p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F7792C-C8BC-97C9-6010-96643EE3338E}"/>
              </a:ext>
            </a:extLst>
          </p:cNvPr>
          <p:cNvSpPr txBox="1"/>
          <p:nvPr/>
        </p:nvSpPr>
        <p:spPr>
          <a:xfrm>
            <a:off x="3043116" y="1009486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err="1">
                <a:solidFill>
                  <a:srgbClr val="FFFFFF"/>
                </a:solidFill>
                <a:latin typeface="Roboto"/>
              </a:rPr>
              <a:t>Roteiro</a:t>
            </a:r>
            <a:r>
              <a:rPr lang="en-US" sz="4800" b="1">
                <a:solidFill>
                  <a:srgbClr val="FFFFFF"/>
                </a:solidFill>
                <a:latin typeface="Roboto"/>
              </a:rPr>
              <a:t>: </a:t>
            </a:r>
            <a:endParaRPr lang="pt-BR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37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2E8D-BA6A-823F-0F10-F908E8E4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>
            <a:extLst>
              <a:ext uri="{FF2B5EF4-FFF2-40B4-BE49-F238E27FC236}">
                <a16:creationId xmlns:a16="http://schemas.microsoft.com/office/drawing/2014/main" id="{2B04AC5A-D0D3-5959-5483-4AB63810DC8D}"/>
              </a:ext>
            </a:extLst>
          </p:cNvPr>
          <p:cNvSpPr txBox="1"/>
          <p:nvPr/>
        </p:nvSpPr>
        <p:spPr>
          <a:xfrm>
            <a:off x="3043117" y="1107178"/>
            <a:ext cx="6564922" cy="55399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O 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problema</a:t>
            </a:r>
          </a:p>
        </p:txBody>
      </p:sp>
      <p:sp>
        <p:nvSpPr>
          <p:cNvPr id="3" name="CaixaDeTexto 1">
            <a:extLst>
              <a:ext uri="{FF2B5EF4-FFF2-40B4-BE49-F238E27FC236}">
                <a16:creationId xmlns:a16="http://schemas.microsoft.com/office/drawing/2014/main" id="{6CA942D6-EE72-340D-16B0-B68B00BBC793}"/>
              </a:ext>
            </a:extLst>
          </p:cNvPr>
          <p:cNvSpPr txBox="1"/>
          <p:nvPr/>
        </p:nvSpPr>
        <p:spPr>
          <a:xfrm>
            <a:off x="478693" y="1836615"/>
            <a:ext cx="6096000" cy="16004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i="0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Um </a:t>
            </a:r>
            <a:r>
              <a:rPr lang="en-US" b="1" i="0" dirty="0" err="1">
                <a:solidFill>
                  <a:srgbClr val="F4F7F9"/>
                </a:solidFill>
                <a:latin typeface="Sora"/>
                <a:ea typeface="Sora"/>
                <a:cs typeface="Sora"/>
              </a:rPr>
              <a:t>processo</a:t>
            </a:r>
            <a:r>
              <a:rPr lang="en-US" b="1" i="0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 manual, </a:t>
            </a:r>
            <a:r>
              <a:rPr lang="en-US" b="1" dirty="0" err="1">
                <a:solidFill>
                  <a:srgbClr val="F4F7F9"/>
                </a:solidFill>
                <a:latin typeface="Sora"/>
                <a:ea typeface="Sora"/>
                <a:cs typeface="Sora"/>
              </a:rPr>
              <a:t>repetido</a:t>
            </a:r>
            <a:r>
              <a:rPr lang="en-US" b="1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, </a:t>
            </a:r>
            <a:r>
              <a:rPr lang="en-US" b="1" dirty="0" err="1">
                <a:solidFill>
                  <a:srgbClr val="F4F7F9"/>
                </a:solidFill>
                <a:latin typeface="Sora"/>
                <a:ea typeface="Sora"/>
                <a:cs typeface="Sora"/>
              </a:rPr>
              <a:t>servidor</a:t>
            </a:r>
            <a:r>
              <a:rPr lang="en-US" b="1" i="0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 </a:t>
            </a:r>
            <a:r>
              <a:rPr lang="en-US" b="1" i="0" dirty="0" err="1">
                <a:solidFill>
                  <a:srgbClr val="F4F7F9"/>
                </a:solidFill>
                <a:latin typeface="Sora"/>
                <a:ea typeface="Sora"/>
                <a:cs typeface="Sora"/>
              </a:rPr>
              <a:t>por</a:t>
            </a:r>
            <a:r>
              <a:rPr lang="en-US" b="1" i="0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 </a:t>
            </a:r>
            <a:r>
              <a:rPr lang="en-US" b="1" i="0" dirty="0" err="1">
                <a:solidFill>
                  <a:srgbClr val="F4F7F9"/>
                </a:solidFill>
                <a:latin typeface="Sora"/>
                <a:ea typeface="Sora"/>
                <a:cs typeface="Sora"/>
              </a:rPr>
              <a:t>servidor</a:t>
            </a:r>
            <a:r>
              <a:rPr lang="en-US" b="1" dirty="0">
                <a:solidFill>
                  <a:srgbClr val="F4F7F9"/>
                </a:solidFill>
                <a:latin typeface="Sora"/>
                <a:ea typeface="Sora"/>
                <a:cs typeface="Sora"/>
              </a:rPr>
              <a:t>:</a:t>
            </a:r>
            <a:br>
              <a:rPr lang="en-US" b="1" dirty="0">
                <a:solidFill>
                  <a:srgbClr val="F4F7F9"/>
                </a:solidFill>
                <a:latin typeface="Sora"/>
                <a:ea typeface="Sora"/>
                <a:cs typeface="Sora"/>
              </a:rPr>
            </a:br>
            <a:endParaRPr lang="en-US" b="1" i="0" dirty="0">
              <a:solidFill>
                <a:srgbClr val="F4F7F9"/>
              </a:solidFill>
              <a:latin typeface="Sora"/>
              <a:ea typeface="Sora"/>
              <a:cs typeface="Sora"/>
            </a:endParaRPr>
          </a:p>
          <a:p>
            <a:endParaRPr lang="en-US" b="1" dirty="0">
              <a:latin typeface="Sora"/>
              <a:ea typeface="IBM Plex Sans"/>
              <a:cs typeface="IBM Plex Sans"/>
            </a:endParaRPr>
          </a:p>
          <a:p>
            <a:endParaRPr lang="en-US" dirty="0">
              <a:solidFill>
                <a:srgbClr val="F4F7F9"/>
              </a:solidFill>
              <a:latin typeface="IBM Plex Sans"/>
              <a:ea typeface="IBM Plex Sans"/>
              <a:cs typeface="IBM Plex Sans"/>
            </a:endParaRPr>
          </a:p>
          <a:p>
            <a:endParaRPr lang="en-US" dirty="0">
              <a:solidFill>
                <a:srgbClr val="F4F7F9"/>
              </a:solidFill>
              <a:latin typeface="IBM Plex Sans"/>
              <a:ea typeface="IBM Plex Sans"/>
              <a:cs typeface="IBM Plex Sans"/>
            </a:endParaRPr>
          </a:p>
          <a:p>
            <a:endParaRPr lang="en-US" dirty="0">
              <a:solidFill>
                <a:srgbClr val="F4F7F9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  <a:endParaRPr lang="pt-BR"/>
          </a:p>
        </p:txBody>
      </p:sp>
      <p:pic>
        <p:nvPicPr>
          <p:cNvPr id="4" name="Imagem 8">
            <a:extLst>
              <a:ext uri="{FF2B5EF4-FFF2-40B4-BE49-F238E27FC236}">
                <a16:creationId xmlns:a16="http://schemas.microsoft.com/office/drawing/2014/main" id="{5ACBB4D9-2E48-97E1-38BE-50867A494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084917"/>
            <a:ext cx="1947334" cy="1100667"/>
          </a:xfrm>
          <a:prstGeom prst="rect">
            <a:avLst/>
          </a:prstGeom>
        </p:spPr>
      </p:pic>
      <p:sp>
        <p:nvSpPr>
          <p:cNvPr id="5" name="CaixaDeTexto 25">
            <a:extLst>
              <a:ext uri="{FF2B5EF4-FFF2-40B4-BE49-F238E27FC236}">
                <a16:creationId xmlns:a16="http://schemas.microsoft.com/office/drawing/2014/main" id="{B11920B8-8EE1-CCFB-D77A-6FDE2E71B8C8}"/>
              </a:ext>
            </a:extLst>
          </p:cNvPr>
          <p:cNvSpPr txBox="1"/>
          <p:nvPr/>
        </p:nvSpPr>
        <p:spPr>
          <a:xfrm>
            <a:off x="2053167" y="2741084"/>
            <a:ext cx="4519084" cy="16004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0" i="0" u="none" strike="noStrike" baseline="0" dirty="0">
                <a:solidFill>
                  <a:srgbClr val="F4F7F9"/>
                </a:solidFill>
                <a:latin typeface="IBM Plex Sans"/>
              </a:rPr>
              <a:t>Toda ação de onboarding/offboarding era feita direto no terminal: </a:t>
            </a:r>
            <a:endParaRPr lang="pt-BR" dirty="0"/>
          </a:p>
          <a:p>
            <a:endParaRPr lang="en-US" dirty="0">
              <a:solidFill>
                <a:srgbClr val="F4F7F9"/>
              </a:solidFill>
              <a:latin typeface="IBM Plex Sans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4F7F9"/>
                </a:solidFill>
                <a:latin typeface="IBM Plex Sans"/>
              </a:rPr>
              <a:t>Entrar</a:t>
            </a:r>
            <a:r>
              <a:rPr lang="en-US" sz="1400" b="0" i="0" u="none" strike="noStrike" baseline="0" dirty="0">
                <a:solidFill>
                  <a:srgbClr val="F4F7F9"/>
                </a:solidFill>
                <a:latin typeface="IBM Plex Sans"/>
              </a:rPr>
              <a:t> via SSH em cada </a:t>
            </a:r>
            <a:r>
              <a:rPr lang="en-US" dirty="0">
                <a:solidFill>
                  <a:srgbClr val="F4F7F9"/>
                </a:solidFill>
                <a:latin typeface="IBM Plex Sans"/>
              </a:rPr>
              <a:t>servidor</a:t>
            </a:r>
            <a:endParaRPr lang="pt-BR" dirty="0"/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4F7F9"/>
                </a:solidFill>
                <a:latin typeface="IBM Plex Sans"/>
              </a:rPr>
              <a:t>Obter</a:t>
            </a:r>
            <a:r>
              <a:rPr lang="en-US" sz="1400" b="0" i="0" u="none" strike="noStrike" baseline="0" dirty="0">
                <a:solidFill>
                  <a:srgbClr val="F4F7F9"/>
                </a:solidFill>
                <a:latin typeface="IBM Plex Sans"/>
              </a:rPr>
              <a:t> privilégio de root </a:t>
            </a:r>
            <a:r>
              <a:rPr lang="en-US" dirty="0">
                <a:solidFill>
                  <a:srgbClr val="F4F7F9"/>
                </a:solidFill>
                <a:latin typeface="IBM Plex Sans"/>
              </a:rPr>
              <a:t> </a:t>
            </a:r>
            <a:endParaRPr lang="pt-BR" dirty="0"/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4F7F9"/>
                </a:solidFill>
                <a:latin typeface="IBM Plex Sans"/>
              </a:rPr>
              <a:t>Rodar</a:t>
            </a:r>
            <a:r>
              <a:rPr lang="en-US" sz="1400" b="0" i="0" u="none" strike="noStrike" baseline="0" dirty="0">
                <a:solidFill>
                  <a:srgbClr val="F4F7F9"/>
                </a:solidFill>
                <a:latin typeface="IBM Plex Sans"/>
              </a:rPr>
              <a:t> </a:t>
            </a:r>
            <a:r>
              <a:rPr lang="en-US" dirty="0">
                <a:solidFill>
                  <a:srgbClr val="F4F7F9"/>
                </a:solidFill>
                <a:latin typeface="IBM Plex Sans"/>
              </a:rPr>
              <a:t>comandos linux manualmente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4F7F9"/>
                </a:solidFill>
                <a:latin typeface="IBM Plex Sans"/>
              </a:rPr>
              <a:t>Fazer a </a:t>
            </a:r>
            <a:r>
              <a:rPr lang="en-US" dirty="0" err="1">
                <a:solidFill>
                  <a:srgbClr val="F4F7F9"/>
                </a:solidFill>
                <a:latin typeface="IBM Plex Sans"/>
              </a:rPr>
              <a:t>verificação</a:t>
            </a:r>
            <a:r>
              <a:rPr lang="en-US" dirty="0">
                <a:solidFill>
                  <a:srgbClr val="F4F7F9"/>
                </a:solidFill>
                <a:latin typeface="IBM Plex Sans"/>
              </a:rPr>
              <a:t> se </a:t>
            </a:r>
            <a:r>
              <a:rPr lang="en-US" dirty="0" err="1">
                <a:solidFill>
                  <a:srgbClr val="F4F7F9"/>
                </a:solidFill>
                <a:latin typeface="IBM Plex Sans"/>
              </a:rPr>
              <a:t>deu</a:t>
            </a:r>
            <a:r>
              <a:rPr lang="en-US" dirty="0">
                <a:solidFill>
                  <a:srgbClr val="F4F7F9"/>
                </a:solidFill>
                <a:latin typeface="IBM Plex Sans"/>
              </a:rPr>
              <a:t> </a:t>
            </a:r>
            <a:r>
              <a:rPr lang="en-US" dirty="0" err="1">
                <a:solidFill>
                  <a:srgbClr val="F4F7F9"/>
                </a:solidFill>
                <a:latin typeface="IBM Plex Sans"/>
              </a:rPr>
              <a:t>certo</a:t>
            </a:r>
          </a:p>
        </p:txBody>
      </p:sp>
      <p:pic>
        <p:nvPicPr>
          <p:cNvPr id="6" name="Imagem 10" descr="Forma, Seta&#10;&#10;O conteúdo gerado por IA pode estar incorreto.">
            <a:extLst>
              <a:ext uri="{FF2B5EF4-FFF2-40B4-BE49-F238E27FC236}">
                <a16:creationId xmlns:a16="http://schemas.microsoft.com/office/drawing/2014/main" id="{78E71D54-78B1-0268-8591-B609E2329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99" y="4212167"/>
            <a:ext cx="1947334" cy="1100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AB01DD-F527-9E32-AB68-A43ABD02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44" y="4506058"/>
            <a:ext cx="5587268" cy="128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0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04F61758-7E5B-0BDE-4F4E-C8F3F68F81C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8010" r="18010"/>
          <a:stretch/>
        </p:blipFill>
        <p:spPr>
          <a:xfrm>
            <a:off x="6622220" y="-1"/>
            <a:ext cx="6219939" cy="6858001"/>
          </a:xfrm>
          <a:prstGeom prst="roundRect">
            <a:avLst>
              <a:gd name="adj" fmla="val 4389"/>
            </a:avLst>
          </a:prstGeom>
          <a:noFill/>
          <a:ln>
            <a:noFill/>
          </a:ln>
        </p:spPr>
      </p:pic>
      <p:sp>
        <p:nvSpPr>
          <p:cNvPr id="8" name="Google Shape;131;p2">
            <a:extLst>
              <a:ext uri="{FF2B5EF4-FFF2-40B4-BE49-F238E27FC236}">
                <a16:creationId xmlns:a16="http://schemas.microsoft.com/office/drawing/2014/main" id="{2AA13584-5A18-5DAF-7595-6BBEF0581332}"/>
              </a:ext>
            </a:extLst>
          </p:cNvPr>
          <p:cNvSpPr txBox="1"/>
          <p:nvPr/>
        </p:nvSpPr>
        <p:spPr>
          <a:xfrm>
            <a:off x="774700" y="2991332"/>
            <a:ext cx="506862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600" b="1" err="1">
                <a:solidFill>
                  <a:schemeClr val="accent2"/>
                </a:solidFill>
                <a:latin typeface="Roboto"/>
                <a:ea typeface="Roboto"/>
                <a:cs typeface="Roboto"/>
              </a:rPr>
              <a:t>Transformação</a:t>
            </a:r>
            <a:r>
              <a:rPr lang="en-US" sz="1600" b="1">
                <a:solidFill>
                  <a:schemeClr val="accent2"/>
                </a:solidFill>
                <a:latin typeface="Roboto"/>
                <a:ea typeface="Roboto"/>
                <a:cs typeface="Roboto"/>
              </a:rPr>
              <a:t> Digital &amp; </a:t>
            </a:r>
            <a:r>
              <a:rPr lang="en-US" sz="1600" b="1" err="1">
                <a:solidFill>
                  <a:schemeClr val="accent2"/>
                </a:solidFill>
                <a:latin typeface="Roboto"/>
                <a:ea typeface="Roboto"/>
                <a:cs typeface="Roboto"/>
              </a:rPr>
              <a:t>Automação</a:t>
            </a:r>
            <a:endParaRPr lang="pt-BR" sz="1600">
              <a:solidFill>
                <a:schemeClr val="accent2"/>
              </a:solidFill>
            </a:endParaRPr>
          </a:p>
          <a:p>
            <a:endParaRPr lang="en-US" sz="1200" b="1">
              <a:solidFill>
                <a:schemeClr val="accent2"/>
              </a:solidFill>
              <a:latin typeface="Roboto"/>
              <a:ea typeface="Roboto"/>
              <a:cs typeface="Roboto"/>
            </a:endParaRPr>
          </a:p>
          <a:p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O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projeto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estágio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foi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idealizado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para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modernizar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completamente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gestão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identidades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acessos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nos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servidores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Linux.</a:t>
            </a:r>
          </a:p>
          <a:p>
            <a:endParaRPr lang="en-US"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Através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da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criação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de um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ecossistema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automatizado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integrado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à 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Inteligência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Artificial,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eliminamos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comandos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manuais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passamos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contar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com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sugestões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inteligentes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validações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segurança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em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tempo real.</a:t>
            </a:r>
          </a:p>
          <a:p>
            <a:pPr>
              <a:buSzPts val="1800"/>
            </a:pPr>
            <a:endParaRPr lang="en-US" sz="18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Google Shape;132;p2">
            <a:extLst>
              <a:ext uri="{FF2B5EF4-FFF2-40B4-BE49-F238E27FC236}">
                <a16:creationId xmlns:a16="http://schemas.microsoft.com/office/drawing/2014/main" id="{2D56961E-AE39-B157-EE32-4B51F0EA2BE6}"/>
              </a:ext>
            </a:extLst>
          </p:cNvPr>
          <p:cNvSpPr txBox="1"/>
          <p:nvPr/>
        </p:nvSpPr>
        <p:spPr>
          <a:xfrm>
            <a:off x="510940" y="2029789"/>
            <a:ext cx="507071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360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proposta</a:t>
            </a:r>
            <a:r>
              <a:rPr lang="en-US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sz="360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projeto</a:t>
            </a:r>
            <a:endParaRPr lang="pt-BR" sz="3600">
              <a:solidFill>
                <a:schemeClr val="lt1"/>
              </a:solidFill>
            </a:endParaRPr>
          </a:p>
        </p:txBody>
      </p:sp>
      <p:sp>
        <p:nvSpPr>
          <p:cNvPr id="10" name="Google Shape;133;p2">
            <a:extLst>
              <a:ext uri="{FF2B5EF4-FFF2-40B4-BE49-F238E27FC236}">
                <a16:creationId xmlns:a16="http://schemas.microsoft.com/office/drawing/2014/main" id="{424B7C91-70FF-042C-79DC-C7CF0CDC97A6}"/>
              </a:ext>
            </a:extLst>
          </p:cNvPr>
          <p:cNvSpPr txBox="1"/>
          <p:nvPr/>
        </p:nvSpPr>
        <p:spPr>
          <a:xfrm>
            <a:off x="518090" y="6247251"/>
            <a:ext cx="1993531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www.grupothink.com.br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CaixaDeTexto 1">
            <a:extLst>
              <a:ext uri="{FF2B5EF4-FFF2-40B4-BE49-F238E27FC236}">
                <a16:creationId xmlns:a16="http://schemas.microsoft.com/office/drawing/2014/main" id="{A4995634-9C20-EDA7-2BC1-041077368A9A}"/>
              </a:ext>
            </a:extLst>
          </p:cNvPr>
          <p:cNvSpPr txBox="1"/>
          <p:nvPr/>
        </p:nvSpPr>
        <p:spPr>
          <a:xfrm>
            <a:off x="772583" y="5249333"/>
            <a:ext cx="4434417" cy="67710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Meta Principal: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Garantir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padronização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agilidade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segurança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contra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privilégios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20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indevidos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no Linux.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11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/>
        </p:nvSpPr>
        <p:spPr>
          <a:xfrm>
            <a:off x="518090" y="6247251"/>
            <a:ext cx="1993531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www.grupothink.com.br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AAC698-1E1B-3332-7A73-8970D32F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9D45-02BA-7863-1995-195FB1ED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09EBBE7-25A9-C7B7-6F98-A72B82E7812F}"/>
              </a:ext>
            </a:extLst>
          </p:cNvPr>
          <p:cNvSpPr txBox="1"/>
          <p:nvPr/>
        </p:nvSpPr>
        <p:spPr>
          <a:xfrm>
            <a:off x="1821962" y="1195102"/>
            <a:ext cx="85480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err="1">
                <a:solidFill>
                  <a:srgbClr val="FFFFFF"/>
                </a:solidFill>
                <a:latin typeface="Roboto"/>
              </a:rPr>
              <a:t>Tecnologias</a:t>
            </a:r>
            <a:r>
              <a:rPr lang="en-US" sz="4800" b="1">
                <a:solidFill>
                  <a:srgbClr val="FFFFFF"/>
                </a:solidFill>
                <a:latin typeface="Roboto"/>
              </a:rPr>
              <a:t> </a:t>
            </a:r>
            <a:r>
              <a:rPr lang="en-US" sz="4800" b="1" err="1">
                <a:solidFill>
                  <a:srgbClr val="FFFFFF"/>
                </a:solidFill>
                <a:latin typeface="Roboto"/>
              </a:rPr>
              <a:t>Utilizadas</a:t>
            </a:r>
            <a:r>
              <a:rPr lang="en-US" sz="4800" b="1">
                <a:solidFill>
                  <a:srgbClr val="FFFFFF"/>
                </a:solidFill>
                <a:latin typeface="Roboto"/>
              </a:rPr>
              <a:t>:</a:t>
            </a:r>
            <a:endParaRPr lang="pt-BR"/>
          </a:p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F7CD44-19BE-FCFC-7185-BA1D24E4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77" y="879231"/>
            <a:ext cx="10912231" cy="613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7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1D269EDA-DA13-57D1-D71F-42912F08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ED81A6C9-F20A-31FC-351F-948C2E7DCB43}"/>
              </a:ext>
            </a:extLst>
          </p:cNvPr>
          <p:cNvSpPr txBox="1"/>
          <p:nvPr/>
        </p:nvSpPr>
        <p:spPr>
          <a:xfrm>
            <a:off x="518090" y="6247251"/>
            <a:ext cx="1993531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www.grupothink.com.br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08849F-EE65-2B49-5DE9-BE1B678A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2A43-4387-9413-3F20-FBC08B96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232A967-DB0B-3BCF-E703-89B5456D1DF5}"/>
              </a:ext>
            </a:extLst>
          </p:cNvPr>
          <p:cNvSpPr txBox="1"/>
          <p:nvPr/>
        </p:nvSpPr>
        <p:spPr>
          <a:xfrm>
            <a:off x="2173654" y="1195102"/>
            <a:ext cx="854807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Evolução</a:t>
            </a:r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do </a:t>
            </a:r>
            <a:r>
              <a:rPr lang="en-US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processo</a:t>
            </a:r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até</a:t>
            </a:r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o NEXUS:</a:t>
            </a:r>
          </a:p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04AB932-8F2D-9F89-4B47-F10B207025BA}"/>
              </a:ext>
            </a:extLst>
          </p:cNvPr>
          <p:cNvSpPr txBox="1"/>
          <p:nvPr/>
        </p:nvSpPr>
        <p:spPr>
          <a:xfrm>
            <a:off x="455956" y="2067093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Estágio 1: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7C38F2-935E-1A9F-AB04-2236867C3E5A}"/>
              </a:ext>
            </a:extLst>
          </p:cNvPr>
          <p:cNvSpPr txBox="1"/>
          <p:nvPr/>
        </p:nvSpPr>
        <p:spPr>
          <a:xfrm>
            <a:off x="459154" y="2373923"/>
            <a:ext cx="6096000" cy="1308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Login e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senha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 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um de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vez</a:t>
            </a:r>
            <a:r>
              <a:rPr lang="en-US" sz="13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300" dirty="0">
                <a:latin typeface="Segoe UI"/>
                <a:ea typeface="Segoe UI"/>
                <a:cs typeface="Segoe UI"/>
              </a:rPr>
              <a:t>;</a:t>
            </a:r>
            <a:endParaRPr lang="pt-BR" dirty="0">
              <a:ea typeface="Segoe UI"/>
            </a:endParaRPr>
          </a:p>
          <a:p>
            <a:pPr marL="285750" indent="-285750" algn="l">
              <a:buChar char="•"/>
            </a:pPr>
            <a:endParaRPr lang="en-US" sz="1300" dirty="0">
              <a:latin typeface="Segoe UI"/>
              <a:cs typeface="Segoe UI"/>
            </a:endParaRPr>
          </a:p>
          <a:p>
            <a:pPr marL="285750" indent="-285750">
              <a:buChar char="•"/>
            </a:pP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Comandos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Linux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digitados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um a um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(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useradd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usermod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-L,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userdel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...)</a:t>
            </a:r>
            <a:r>
              <a:rPr lang="en-US" sz="13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300" dirty="0">
                <a:latin typeface="Segoe UI"/>
                <a:ea typeface="Segoe UI"/>
                <a:cs typeface="Segoe UI"/>
              </a:rPr>
              <a:t>;</a:t>
            </a:r>
            <a:endParaRPr lang="pt-BR">
              <a:ea typeface="Segoe UI"/>
            </a:endParaRPr>
          </a:p>
          <a:p>
            <a:pPr marL="285750" indent="-285750">
              <a:buChar char="•"/>
            </a:pPr>
            <a:endParaRPr lang="en-US" sz="1300" dirty="0">
              <a:latin typeface="Segoe UI"/>
              <a:ea typeface="Segoe UI"/>
              <a:cs typeface="Segoe UI"/>
            </a:endParaRPr>
          </a:p>
          <a:p>
            <a:pPr marL="285750" indent="-285750" algn="l" rtl="0">
              <a:buChar char="•"/>
            </a:pP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 script,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CSV, 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log </a:t>
            </a:r>
            <a:r>
              <a:rPr lang="en-US" sz="13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de auditoria</a:t>
            </a:r>
            <a:r>
              <a:rPr lang="en-US" sz="13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300" dirty="0">
                <a:latin typeface="Segoe UI"/>
                <a:ea typeface="Segoe UI"/>
                <a:cs typeface="Segoe UI"/>
              </a:rPr>
              <a:t>;</a:t>
            </a:r>
            <a:endParaRPr lang="en-US" sz="13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285750" indent="-285750" algn="ctr">
              <a:buChar char="•"/>
            </a:pP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087104-5FF0-24C9-6FDD-E4B5B4279529}"/>
              </a:ext>
            </a:extLst>
          </p:cNvPr>
          <p:cNvSpPr txBox="1"/>
          <p:nvPr/>
        </p:nvSpPr>
        <p:spPr>
          <a:xfrm>
            <a:off x="2556340" y="3679017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Estágio 2: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BA0317-76D8-3192-3D73-920A364DBCAB}"/>
              </a:ext>
            </a:extLst>
          </p:cNvPr>
          <p:cNvSpPr txBox="1"/>
          <p:nvPr/>
        </p:nvSpPr>
        <p:spPr>
          <a:xfrm>
            <a:off x="2559538" y="3985846"/>
            <a:ext cx="6096000" cy="1564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nexus_remote.sh +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servidores.conf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+usuarios.csv</a:t>
            </a:r>
            <a:endParaRPr lang="en-US" sz="1300" dirty="0" err="1">
              <a:latin typeface="Segoe UI"/>
              <a:cs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Senha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de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sudo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pedida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cada execução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endParaRPr lang="en-US" sz="1300">
              <a:latin typeface="Segoe UI"/>
              <a:ea typeface="Segoe UI"/>
              <a:cs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Relatórios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TXT/JSON/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CSV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espalhados por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endParaRPr lang="en-US" sz="1300" dirty="0" err="1">
              <a:latin typeface="Segoe UI"/>
              <a:ea typeface="Segoe UI"/>
              <a:cs typeface="Segoe UI"/>
            </a:endParaRPr>
          </a:p>
          <a:p>
            <a:pPr marL="285750" indent="-285750" algn="l">
              <a:buChar char="•"/>
            </a:pPr>
            <a:endParaRPr lang="en-US" sz="13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285750" indent="-285750" algn="ctr">
              <a:buChar char="•"/>
            </a:pPr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8C50EC-3DE3-F20E-E9D0-28FD25A427DD}"/>
              </a:ext>
            </a:extLst>
          </p:cNvPr>
          <p:cNvSpPr txBox="1"/>
          <p:nvPr/>
        </p:nvSpPr>
        <p:spPr>
          <a:xfrm>
            <a:off x="5076802" y="5242093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Estágio 3: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EB3C77-3B05-DF8A-380F-1560E79A8DEC}"/>
              </a:ext>
            </a:extLst>
          </p:cNvPr>
          <p:cNvSpPr txBox="1"/>
          <p:nvPr/>
        </p:nvSpPr>
        <p:spPr>
          <a:xfrm>
            <a:off x="5079999" y="5548922"/>
            <a:ext cx="6096000" cy="19169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Senha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configurada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uma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única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vez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por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servidor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;</a:t>
            </a:r>
            <a:endParaRPr lang="en-US" sz="1300" dirty="0">
              <a:latin typeface="Segoe UI"/>
              <a:cs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Execução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em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lote</a:t>
            </a:r>
            <a:r>
              <a:rPr lang="en-US" sz="13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com auditoria central;</a:t>
            </a:r>
            <a:endParaRPr lang="en-US" sz="1300" dirty="0">
              <a:latin typeface="Segoe UI"/>
              <a:ea typeface="Segoe UI"/>
              <a:cs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IA local resume a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situação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de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lang="en-US" sz="13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3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usuário</a:t>
            </a:r>
            <a:endParaRPr lang="en-US" sz="1300" dirty="0" err="1">
              <a:latin typeface="Segoe UI"/>
              <a:ea typeface="Segoe UI"/>
              <a:cs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Char char="•"/>
            </a:pPr>
            <a:endParaRPr lang="en-US" sz="1300" dirty="0">
              <a:solidFill>
                <a:srgbClr val="EDE9F7"/>
              </a:solidFill>
              <a:ea typeface="Segoe UI"/>
              <a:cs typeface="Segoe UI"/>
            </a:endParaRPr>
          </a:p>
          <a:p>
            <a:pPr marL="285750" indent="-285750" algn="l">
              <a:buChar char="•"/>
            </a:pPr>
            <a:endParaRPr lang="en-US" sz="13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285750" indent="-285750" algn="ctr">
              <a:buChar char="•"/>
            </a:pPr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665165-D7E6-3547-8923-55D8C375D0C5}"/>
              </a:ext>
            </a:extLst>
          </p:cNvPr>
          <p:cNvSpPr txBox="1"/>
          <p:nvPr/>
        </p:nvSpPr>
        <p:spPr>
          <a:xfrm>
            <a:off x="7160846" y="2774462"/>
            <a:ext cx="6096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i="0" u="none" strike="noStrike" baseline="0" dirty="0">
                <a:solidFill>
                  <a:schemeClr val="bg2">
                    <a:lumMod val="76000"/>
                  </a:schemeClr>
                </a:solidFill>
                <a:latin typeface="Segoe UI"/>
              </a:rPr>
              <a:t>~25–35 min / </a:t>
            </a:r>
            <a:r>
              <a:rPr lang="en-US" sz="1300" b="1" i="0" u="none" strike="noStrike" baseline="0" dirty="0" err="1">
                <a:solidFill>
                  <a:schemeClr val="bg2">
                    <a:lumMod val="76000"/>
                  </a:schemeClr>
                </a:solidFill>
                <a:latin typeface="Segoe UI"/>
              </a:rPr>
              <a:t>ação</a:t>
            </a:r>
            <a:r>
              <a:rPr sz="1300" b="0" i="0" dirty="0">
                <a:solidFill>
                  <a:schemeClr val="bg2">
                    <a:lumMod val="76000"/>
                  </a:schemeClr>
                </a:solidFill>
                <a:latin typeface="Segoe UI"/>
                <a:ea typeface="Segoe UI"/>
                <a:cs typeface="Segoe UI"/>
              </a:rPr>
              <a:t>​</a:t>
            </a:r>
            <a:endParaRPr lang="pt-BR" dirty="0">
              <a:solidFill>
                <a:schemeClr val="bg2">
                  <a:lumMod val="76000"/>
                </a:schemeClr>
              </a:solidFill>
            </a:endParaRPr>
          </a:p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A884E78-279B-4023-3984-E858F9EB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923" y="2549769"/>
            <a:ext cx="1465386" cy="73269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FF44D5A-8131-6997-8B92-E714F2FF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153" y="4151922"/>
            <a:ext cx="1465386" cy="732693"/>
          </a:xfrm>
          <a:prstGeom prst="rect">
            <a:avLst/>
          </a:prstGeom>
        </p:spPr>
      </p:pic>
      <p:pic>
        <p:nvPicPr>
          <p:cNvPr id="17" name="Imagem 16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0D4BFBC-4632-CA1B-95F6-91C4D751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537" y="5685691"/>
            <a:ext cx="1465386" cy="732693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60A19489-A9FC-BEF1-4B53-EA69699F4CD3}"/>
              </a:ext>
            </a:extLst>
          </p:cNvPr>
          <p:cNvSpPr txBox="1"/>
          <p:nvPr/>
        </p:nvSpPr>
        <p:spPr>
          <a:xfrm>
            <a:off x="7815385" y="4376615"/>
            <a:ext cx="6096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Segoe UI"/>
              </a:rPr>
              <a:t>~15–20 min / ação</a:t>
            </a:r>
            <a:r>
              <a:rPr sz="1300" b="1">
                <a:solidFill>
                  <a:schemeClr val="bg2">
                    <a:lumMod val="76000"/>
                  </a:schemeClr>
                </a:solidFill>
                <a:latin typeface="Segoe UI"/>
              </a:rPr>
              <a:t>​</a:t>
            </a:r>
            <a:endParaRPr lang="pt-BR" sz="1300" b="1">
              <a:solidFill>
                <a:schemeClr val="bg2">
                  <a:lumMod val="76000"/>
                </a:schemeClr>
              </a:solidFill>
              <a:latin typeface="Segoe UI"/>
            </a:endParaRPr>
          </a:p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00CB79-CD68-BCC3-E486-1CBAFBC2C4B3}"/>
              </a:ext>
            </a:extLst>
          </p:cNvPr>
          <p:cNvSpPr txBox="1"/>
          <p:nvPr/>
        </p:nvSpPr>
        <p:spPr>
          <a:xfrm>
            <a:off x="9485924" y="5685692"/>
            <a:ext cx="2559539" cy="9079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chemeClr val="bg2">
                    <a:lumMod val="76000"/>
                  </a:schemeClr>
                </a:solidFill>
                <a:latin typeface="Segoe UI"/>
                <a:cs typeface="Segoe UI"/>
              </a:rPr>
              <a:t>~2–4 min / </a:t>
            </a:r>
            <a:r>
              <a:rPr lang="en-US" sz="1300" b="1" dirty="0" err="1">
                <a:solidFill>
                  <a:schemeClr val="bg2">
                    <a:lumMod val="76000"/>
                  </a:schemeClr>
                </a:solidFill>
                <a:latin typeface="Segoe UI"/>
                <a:cs typeface="Segoe UI"/>
              </a:rPr>
              <a:t>ação</a:t>
            </a:r>
            <a:r>
              <a:rPr lang="pt-BR" sz="1300" b="1" dirty="0">
                <a:solidFill>
                  <a:schemeClr val="bg2">
                    <a:lumMod val="76000"/>
                  </a:schemeClr>
                </a:solidFill>
                <a:latin typeface="Segoe UI"/>
                <a:cs typeface="Segoe UI"/>
              </a:rPr>
              <a:t> </a:t>
            </a:r>
            <a:br>
              <a:rPr lang="en-US" sz="1300" b="1" dirty="0">
                <a:solidFill>
                  <a:schemeClr val="bg2">
                    <a:lumMod val="76000"/>
                  </a:schemeClr>
                </a:solidFill>
                <a:latin typeface="Segoe UI"/>
              </a:rPr>
            </a:br>
            <a:r>
              <a:rPr lang="en-US" sz="1300" b="1" dirty="0" err="1">
                <a:solidFill>
                  <a:schemeClr val="bg2">
                    <a:lumMod val="76000"/>
                  </a:schemeClr>
                </a:solidFill>
                <a:latin typeface="Segoe UI"/>
              </a:rPr>
              <a:t>Estimativa</a:t>
            </a:r>
            <a:r>
              <a:rPr lang="en-US" sz="1300" b="1" dirty="0">
                <a:solidFill>
                  <a:schemeClr val="bg2">
                    <a:lumMod val="76000"/>
                  </a:schemeClr>
                </a:solidFill>
                <a:latin typeface="Segoe UI"/>
              </a:rPr>
              <a:t>: </a:t>
            </a:r>
            <a:r>
              <a:rPr lang="en-US" sz="1300" b="1" dirty="0" err="1">
                <a:solidFill>
                  <a:schemeClr val="bg2">
                    <a:lumMod val="76000"/>
                  </a:schemeClr>
                </a:solidFill>
                <a:latin typeface="Segoe UI"/>
              </a:rPr>
              <a:t>redução</a:t>
            </a:r>
            <a:r>
              <a:rPr lang="en-US" sz="1300" b="1" dirty="0">
                <a:solidFill>
                  <a:schemeClr val="bg2">
                    <a:lumMod val="76000"/>
                  </a:schemeClr>
                </a:solidFill>
                <a:latin typeface="Segoe UI"/>
              </a:rPr>
              <a:t> de </a:t>
            </a:r>
            <a:endParaRPr lang="pt-BR" sz="1300" b="1" dirty="0">
              <a:solidFill>
                <a:schemeClr val="bg2">
                  <a:lumMod val="76000"/>
                </a:schemeClr>
              </a:solidFill>
              <a:latin typeface="Segoe UI"/>
            </a:endParaRPr>
          </a:p>
          <a:p>
            <a:pPr algn="ctr"/>
            <a:r>
              <a:rPr lang="en-US" sz="1300" b="1" dirty="0">
                <a:solidFill>
                  <a:schemeClr val="bg2">
                    <a:lumMod val="76000"/>
                  </a:schemeClr>
                </a:solidFill>
                <a:latin typeface="Segoe UI"/>
              </a:rPr>
              <a:t>70 a −85% do tempo</a:t>
            </a:r>
            <a:r>
              <a:rPr sz="1300" b="1" dirty="0">
                <a:solidFill>
                  <a:schemeClr val="bg2">
                    <a:lumMod val="76000"/>
                  </a:schemeClr>
                </a:solidFill>
                <a:latin typeface="Segoe UI"/>
              </a:rPr>
              <a:t>​</a:t>
            </a:r>
            <a:endParaRPr lang="pt-BR" sz="1300" b="1">
              <a:solidFill>
                <a:schemeClr val="bg2">
                  <a:lumMod val="76000"/>
                </a:schemeClr>
              </a:solidFill>
              <a:latin typeface="Segoe UI"/>
            </a:endParaRPr>
          </a:p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35BA911-082E-BBDD-F2CA-72FBED2A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078" y="693615"/>
            <a:ext cx="3243385" cy="18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5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8611-8EB8-DD4A-1E47-D8BA21F4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C4B215C-06CD-2688-5A01-AB3D088B74C1}"/>
              </a:ext>
            </a:extLst>
          </p:cNvPr>
          <p:cNvSpPr txBox="1"/>
          <p:nvPr/>
        </p:nvSpPr>
        <p:spPr>
          <a:xfrm>
            <a:off x="2173654" y="1195102"/>
            <a:ext cx="8548076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Onde </a:t>
            </a:r>
            <a:r>
              <a:rPr lang="en-US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entra</a:t>
            </a:r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 a IA no NEXUS:</a:t>
            </a:r>
            <a:endParaRPr lang="pt-BR">
              <a:solidFill>
                <a:schemeClr val="lt1"/>
              </a:solidFill>
            </a:endParaRPr>
          </a:p>
          <a:p>
            <a:endParaRPr lang="en-US" sz="3600" b="1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430907-7597-AA4C-FFCE-5507D0219D73}"/>
              </a:ext>
            </a:extLst>
          </p:cNvPr>
          <p:cNvSpPr txBox="1"/>
          <p:nvPr/>
        </p:nvSpPr>
        <p:spPr>
          <a:xfrm>
            <a:off x="576385" y="2012461"/>
            <a:ext cx="8440615" cy="3361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 </a:t>
            </a: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quê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motor de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regras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local (ai_engine.py),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embutido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na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própria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aplicação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Como </a:t>
            </a: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funciona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6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IA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lê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status,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grupos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dias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bloqueado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histórico de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comandos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 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gera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um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resumo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português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dashs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+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fatos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estruturados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tempo real.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Qual </a:t>
            </a: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decisão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apoia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"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esta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conta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precisa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atenção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agora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quê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?" —- </a:t>
            </a:r>
            <a:r>
              <a:rPr lang="en-US" sz="16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lang="en-US" sz="16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o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analista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cruzar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campos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manualmente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Tecnologia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IA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baseada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regras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(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sistema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especialista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),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se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aplica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a um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linguagem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(LLM) e 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60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possui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API externa.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 marL="285750" indent="-285750" algn="l">
              <a:buChar char="•"/>
            </a:pPr>
            <a:endParaRPr lang="en-US" sz="13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285750" indent="-285750" algn="ctr">
              <a:buChar char="•"/>
            </a:pP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48D3B3-9BE9-AB7D-F5BB-5677072788C2}"/>
              </a:ext>
            </a:extLst>
          </p:cNvPr>
          <p:cNvSpPr txBox="1"/>
          <p:nvPr/>
        </p:nvSpPr>
        <p:spPr>
          <a:xfrm>
            <a:off x="7229231" y="499207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Auditável</a:t>
            </a:r>
            <a:r>
              <a:rPr lang="en-US" sz="145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: 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toda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decisão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é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rastreável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no </a:t>
            </a:r>
            <a:r>
              <a:rPr lang="en-US" sz="145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código</a:t>
            </a:r>
            <a:r>
              <a:rPr lang="en-US" sz="145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450" dirty="0">
                <a:latin typeface="Segoe UI"/>
                <a:ea typeface="Segoe UI"/>
                <a:cs typeface="Segoe UI"/>
              </a:rPr>
              <a:t>;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 algn="l" rtl="0">
              <a:buAutoNum type="arabicPeriod"/>
            </a:pP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custo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chamada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de API</a:t>
            </a:r>
            <a:r>
              <a:rPr lang="en-US" sz="145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450" dirty="0">
                <a:latin typeface="Segoe UI"/>
                <a:ea typeface="Segoe UI"/>
                <a:cs typeface="Segoe UI"/>
              </a:rPr>
              <a:t>;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>
              <a:buAutoNum type="arabicPeriod"/>
            </a:pP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Nenhum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dado de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/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usuário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sai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da </a:t>
            </a:r>
            <a:r>
              <a:rPr lang="en-US" sz="145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empresa</a:t>
            </a:r>
            <a:r>
              <a:rPr lang="en-US" sz="145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450" dirty="0">
                <a:latin typeface="Segoe UI"/>
                <a:ea typeface="Segoe UI"/>
                <a:cs typeface="Segoe UI"/>
              </a:rPr>
              <a:t>;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>
              <a:buAutoNum type="arabicPeriod"/>
            </a:pP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Roda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dentro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da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própria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aplicação</a:t>
            </a: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45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45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45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produção</a:t>
            </a:r>
            <a:r>
              <a:rPr lang="en-US" sz="145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en-US" sz="1450" dirty="0">
                <a:latin typeface="Segoe UI"/>
                <a:ea typeface="Segoe UI"/>
                <a:cs typeface="Segoe UI"/>
              </a:rPr>
              <a:t>.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535A9E-1ED6-165F-4A5A-3A2BEDBFD387}"/>
              </a:ext>
            </a:extLst>
          </p:cNvPr>
          <p:cNvSpPr txBox="1"/>
          <p:nvPr/>
        </p:nvSpPr>
        <p:spPr>
          <a:xfrm>
            <a:off x="7963962" y="453659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Por quê regras e não LLM?</a:t>
            </a:r>
          </a:p>
        </p:txBody>
      </p:sp>
    </p:spTree>
    <p:extLst>
      <p:ext uri="{BB962C8B-B14F-4D97-AF65-F5344CB8AC3E}">
        <p14:creationId xmlns:p14="http://schemas.microsoft.com/office/powerpoint/2010/main" val="427734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4986-72F0-BE87-078D-8B57F9CF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1DD3A46-CC65-C0C4-000A-1B24EDA042AC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O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que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 a IA local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mostra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na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prática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:</a:t>
            </a: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04C9040-AEC5-CBE2-6F15-446BB484E4E4}"/>
              </a:ext>
            </a:extLst>
          </p:cNvPr>
          <p:cNvSpPr txBox="1"/>
          <p:nvPr/>
        </p:nvSpPr>
        <p:spPr>
          <a:xfrm>
            <a:off x="332155" y="1973385"/>
            <a:ext cx="11850076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"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joao.silva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está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bloqueado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há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82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(s</a:t>
            </a:r>
            <a:r>
              <a:rPr lang="en-US" sz="1900" i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).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 </a:t>
            </a:r>
            <a:r>
              <a:rPr lang="en-US" sz="1900" i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Restam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8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(s)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até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a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remoção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automática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 </a:t>
            </a:r>
            <a:r>
              <a:rPr lang="en-US" sz="19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endParaRPr lang="pt-BR"/>
          </a:p>
          <a:p>
            <a:pPr algn="ctr"/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Próximo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do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limite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será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removido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automaticamente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pelo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NEXUS se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houver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ação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i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manual antes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900" b="0" i="1" u="none" strike="noStrike" baseline="0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disso</a:t>
            </a:r>
            <a:r>
              <a:rPr lang="en-US" sz="1900" b="0" i="1" u="none" strike="noStrike" baseline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."</a:t>
            </a:r>
            <a:r>
              <a:rPr lang="en-US" sz="19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</a:p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3B92A4-FD9C-F7DE-DBB0-663B91EED950}"/>
              </a:ext>
            </a:extLst>
          </p:cNvPr>
          <p:cNvSpPr txBox="1"/>
          <p:nvPr/>
        </p:nvSpPr>
        <p:spPr>
          <a:xfrm>
            <a:off x="722923" y="5226539"/>
            <a:ext cx="1106853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500" b="1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Sem o NEXUS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: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essa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informação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exigiria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rodar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chage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-l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manualmente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servidor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.</a:t>
            </a:r>
            <a:r>
              <a:rPr lang="en-US" sz="15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endParaRPr lang="pt-BR"/>
          </a:p>
          <a:p>
            <a:pPr algn="ctr"/>
            <a:endParaRPr lang="en-US" sz="1500" dirty="0">
              <a:latin typeface="Segoe UI"/>
              <a:ea typeface="Segoe UI"/>
              <a:cs typeface="Segoe UI"/>
            </a:endParaRPr>
          </a:p>
          <a:p>
            <a:pPr algn="ctr"/>
            <a:r>
              <a:rPr lang="en-US" sz="1500" b="1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Com o NEXUS: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calculada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em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tempo real a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partir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de LOCK_MAX_DAYS = 90 e</a:t>
            </a:r>
            <a:endParaRPr lang="en-US" sz="1500" dirty="0">
              <a:solidFill>
                <a:srgbClr val="EDE9F7"/>
              </a:solidFill>
              <a:latin typeface="Segoe UI"/>
              <a:ea typeface="Segoe UI"/>
              <a:cs typeface="Segoe UI"/>
            </a:endParaRPr>
          </a:p>
          <a:p>
            <a:pPr algn="ctr"/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LOCK_WARNING_DAYS = 80,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cruzando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 data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 real de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bloqueio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</a:t>
            </a:r>
            <a:r>
              <a:rPr lang="en-US" sz="150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gravada</a:t>
            </a:r>
            <a:r>
              <a:rPr lang="en-US" sz="150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 no banco.</a:t>
            </a:r>
            <a:r>
              <a:rPr lang="en-US" sz="1500" b="0" i="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  <a:endParaRPr lang="en-US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8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7D554-FCAE-5D1A-8797-63A4C7ED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BF0868E-1948-0088-3A5E-A5162750778D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Roadmap: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suporte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 a </a:t>
            </a:r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servidores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 Windows:</a:t>
            </a:r>
            <a:endParaRPr lang="en-US" sz="3000" dirty="0">
              <a:solidFill>
                <a:schemeClr val="lt1"/>
              </a:solidFill>
              <a:latin typeface="Segoe UI"/>
              <a:ea typeface="Roboto"/>
              <a:cs typeface="Segoe UI"/>
            </a:endParaRP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1E944B-11A2-F754-A6D1-9127B46F9FEE}"/>
              </a:ext>
            </a:extLst>
          </p:cNvPr>
          <p:cNvSpPr txBox="1"/>
          <p:nvPr/>
        </p:nvSpPr>
        <p:spPr>
          <a:xfrm>
            <a:off x="556846" y="229576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B0710"/>
                </a:solidFill>
                <a:latin typeface="Segoe UI"/>
              </a:rPr>
              <a:t>PROPOSTA — FORA DO ESCOPO ATUAL</a:t>
            </a:r>
            <a:r>
              <a:rPr sz="12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pt-BR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 </a:t>
            </a:r>
            <a:endParaRPr lang="pt-BR" dirty="0"/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EC10B-F076-862E-3A28-A92BE3811E93}"/>
              </a:ext>
            </a:extLst>
          </p:cNvPr>
          <p:cNvSpPr txBox="1"/>
          <p:nvPr/>
        </p:nvSpPr>
        <p:spPr>
          <a:xfrm>
            <a:off x="478693" y="2784231"/>
            <a:ext cx="11850076" cy="37158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Motivação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: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estender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o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mesmo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conceito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(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painel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único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, auditoria, IA local) para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servidores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Windows.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Principal </a:t>
            </a: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desafio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: </a:t>
            </a:r>
            <a:endParaRPr lang="en-US" sz="1300" dirty="0">
              <a:latin typeface="Segoe UI"/>
              <a:cs typeface="Segoe UI"/>
            </a:endParaRPr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AutoNum type="arabicPeriod"/>
            </a:pP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SSH →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WinRM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; </a:t>
            </a:r>
            <a:endParaRPr lang="en-US" sz="1300" dirty="0">
              <a:latin typeface="Segoe UI"/>
              <a:cs typeface="Segoe UI"/>
            </a:endParaRPr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AutoNum type="arabicPeriod"/>
            </a:pP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Useradd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/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usermod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/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userdel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→ PowerShell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ou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Active Directory; </a:t>
            </a:r>
            <a:endParaRPr lang="en-US" sz="1300" dirty="0">
              <a:latin typeface="Segoe UI"/>
              <a:cs typeface="Segoe UI"/>
            </a:endParaRPr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AutoNum type="arabicPeriod"/>
            </a:pP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Sem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conceito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de"sudo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"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Proposta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 de </a:t>
            </a: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arquitetura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: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reaproveitar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o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mesmo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Flask + SQLite + Ansible,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trocando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SSH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por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WinRM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via a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coleção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oficial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ansible. windows (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win_user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etc.), com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novos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playbooks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voltadas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todas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 para Windows.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Pontos </a:t>
            </a: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 </a:t>
            </a: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aberto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: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contas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locais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x Active Directory;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credencial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de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serviço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delegada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; coleta de histórico de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comandos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(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sem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equivalente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ao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 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bash_history</a:t>
            </a:r>
            <a:r>
              <a:rPr lang="en-US" sz="1300" dirty="0">
                <a:solidFill>
                  <a:srgbClr val="EDE9F7"/>
                </a:solidFill>
                <a:latin typeface="Segoe UI"/>
                <a:cs typeface="Segoe UI"/>
              </a:rPr>
              <a:t>).</a:t>
            </a:r>
            <a:endParaRPr lang="en-US" sz="1300" dirty="0"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DE274B3-E553-181A-A279-DBF568E8A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078" y="742462"/>
            <a:ext cx="3008924" cy="169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9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4AD1-FA38-1A38-52FF-11A25BCD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3EDC774-FECA-BBB1-5576-731C5F19AB91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Encerramento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:</a:t>
            </a:r>
            <a:endParaRPr lang="pt-BR" dirty="0"/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32F037-1AAC-A3B2-B95A-A7F87EE0CFA5}"/>
              </a:ext>
            </a:extLst>
          </p:cNvPr>
          <p:cNvSpPr txBox="1"/>
          <p:nvPr/>
        </p:nvSpPr>
        <p:spPr>
          <a:xfrm>
            <a:off x="576385" y="2618154"/>
            <a:ext cx="11039230" cy="2355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14999"/>
              </a:lnSpc>
            </a:pP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Esse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projeto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contribui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diretamente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para a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eficiência</a:t>
            </a:r>
            <a:endParaRPr lang="en-US" sz="3000" dirty="0" err="1">
              <a:latin typeface="Segoe UI"/>
              <a:cs typeface="Segoe UI"/>
            </a:endParaRPr>
          </a:p>
          <a:p>
            <a:pPr algn="ctr">
              <a:lnSpc>
                <a:spcPct val="114999"/>
              </a:lnSpc>
            </a:pP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operacional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e a 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segurança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da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infraestrutura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de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servidores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 da 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>empresa</a:t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.</a:t>
            </a:r>
            <a:endParaRPr lang="en-US" sz="300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endParaRPr lang="en-US" sz="1300" dirty="0">
              <a:solidFill>
                <a:srgbClr val="EDE9F7"/>
              </a:solidFill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5976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Obrigada!   Julyana Silva   ·   julyana.silva@grupothink.com.br   ·   github.com/julyanarch/NEXUS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5C4B215C-06CD-2688-5A01-AB3D088B74C1}"/>
              </a:ext>
            </a:extLst>
          </p:cNvPr>
          <p:cNvSpPr txBox="1"/>
          <p:nvPr/>
        </p:nvSpPr>
        <p:spPr>
          <a:xfrm>
            <a:off x="2173654" y="1195102"/>
            <a:ext cx="8548076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Os quatro pilares do NEXUS:</a:t>
            </a:r>
            <a:endParaRPr lang="pt-BR">
              <a:solidFill>
                <a:schemeClr val="lt1"/>
              </a:solidFill>
            </a:endParaRPr>
          </a:p>
          <a:p>
            <a:endParaRPr lang="en-US" sz="3600" b="1"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430907-7597-AA4C-FFCE-5507D0219D73}"/>
              </a:ext>
            </a:extLst>
          </p:cNvPr>
          <p:cNvSpPr txBox="1"/>
          <p:nvPr/>
        </p:nvSpPr>
        <p:spPr>
          <a:xfrm>
            <a:off x="576385" y="2012461"/>
            <a:ext cx="8440615" cy="3361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Execução orquestrada: 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Ansible automatiza a criação, o bloqueio e a remoção de usuários em todos os servidores, sem digitar comando por comando.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Auditoria centralizada: </a:t>
            </a:r>
            <a:r>
              <a:rPr lang="en-US" sz="16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cada ação fica registrada em um único banco (nexus.db) — operador, servidor, data e resultado, sempre rastreável.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IA local baseada em regras: 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o motor de regras (ai_engine.py) resume, em português, a situação de cada usuário — sem LLM, sem API externa, sem dado saindo da empresa.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60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Segurança proativa: </a:t>
            </a:r>
            <a:r>
              <a:rPr lang="en-US" sz="160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expiração automática de contas bloqueadas há mais de 90 dias, com alerta a partir de 80 dias — sem depender da memória do analista.</a:t>
            </a:r>
            <a:endParaRPr lang="en-US" sz="1600" dirty="0">
              <a:latin typeface="Segoe UI"/>
              <a:ea typeface="Segoe UI"/>
              <a:cs typeface="Segoe UI"/>
            </a:endParaRPr>
          </a:p>
          <a:p>
            <a:pPr marL="285750" indent="-285750" algn="l">
              <a:buChar char="•"/>
            </a:pPr>
            <a:endParaRPr lang="en-US" sz="13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285750" indent="-285750" algn="ctr">
              <a:buChar char="•"/>
            </a:pP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48D3B3-9BE9-AB7D-F5BB-5677072788C2}"/>
              </a:ext>
            </a:extLst>
          </p:cNvPr>
          <p:cNvSpPr txBox="1"/>
          <p:nvPr/>
        </p:nvSpPr>
        <p:spPr>
          <a:xfrm>
            <a:off x="7229231" y="499207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Fim do comando digitado manualmente, um por um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 algn="l" rtl="0">
              <a:buAutoNum type="arabicPeriod"/>
            </a:pP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Fim da planilha CSV solta por servidor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>
              <a:buAutoNum type="arabicPeriod"/>
            </a:pPr>
            <a:r>
              <a:rPr lang="en-US" sz="1450" b="0" i="0" u="none" strike="noStrike" baseline="0" dirty="0" err="1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Fim da conta bloqueada esquecida sem revisão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342900" indent="-342900">
              <a:buAutoNum type="arabicPeriod"/>
            </a:pPr>
            <a:r>
              <a:rPr lang="en-US" sz="1450" b="0" i="0" u="none" strike="noStrike" baseline="0" dirty="0">
                <a:solidFill>
                  <a:srgbClr val="EDE9F7"/>
                </a:solidFill>
                <a:latin typeface="Segoe UI"/>
                <a:ea typeface="Segoe UI"/>
                <a:cs typeface="Segoe UI"/>
              </a:rPr>
              <a:t>Fim da senha de sudo repetida a cada execução</a:t>
            </a:r>
            <a:endParaRPr lang="en-US" sz="145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535A9E-1ED6-165F-4A5A-3A2BEDBFD387}"/>
              </a:ext>
            </a:extLst>
          </p:cNvPr>
          <p:cNvSpPr txBox="1"/>
          <p:nvPr/>
        </p:nvSpPr>
        <p:spPr>
          <a:xfrm>
            <a:off x="7963962" y="453659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O que isso resolve: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ABF0868E-1948-0088-3A5E-A5162750778D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Automação, expiração automática e auditoria:</a:t>
            </a:r>
            <a:endParaRPr lang="en-US" sz="3000" dirty="0">
              <a:solidFill>
                <a:schemeClr val="lt1"/>
              </a:solidFill>
              <a:latin typeface="Segoe UI"/>
              <a:ea typeface="Roboto"/>
              <a:cs typeface="Segoe UI"/>
            </a:endParaRP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1E944B-11A2-F754-A6D1-9127B46F9FEE}"/>
              </a:ext>
            </a:extLst>
          </p:cNvPr>
          <p:cNvSpPr txBox="1"/>
          <p:nvPr/>
        </p:nvSpPr>
        <p:spPr>
          <a:xfrm>
            <a:off x="556846" y="229576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B0710"/>
                </a:solidFill>
                <a:latin typeface="Segoe UI"/>
              </a:rPr>
              <a:t>JÁ EM PRODUÇÃO</a:t>
            </a:r>
            <a:r>
              <a:rPr sz="12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pt-BR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/>
            </a:r>
            <a:endParaRPr lang="pt-BR" dirty="0"/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EC10B-F076-862E-3A28-A92BE3811E93}"/>
              </a:ext>
            </a:extLst>
          </p:cNvPr>
          <p:cNvSpPr txBox="1"/>
          <p:nvPr/>
        </p:nvSpPr>
        <p:spPr>
          <a:xfrm>
            <a:off x="478693" y="2784231"/>
            <a:ext cx="11850076" cy="37158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Job diário (03h):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o NEXUS verifica automaticamente todos os usuários bloqueados, sem exigir nenhuma ação manual do analista.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Alerta prévio (80 dias):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contas próximas do limite aparecem sinalizadas pela IA local, dando tempo para o analista decidir antes da remoção.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Remoção automática (90 dias):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contas bloqueadas por mais tempo que o permitido são removidas automaticamente, e essa ação fica marcada como automática — distinta de uma ação manual.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Auditoria completa: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toda ação, manual ou automática, é gravada com operador, servidor, data/hora e chamado vinculado, consultável a qualquer momento no Painel de Execuções.</a:t>
            </a:r>
            <a:endParaRPr lang="en-US" sz="1300" dirty="0"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  <p:sp>
        <p:nvSpPr>
          <p:cNvPr id="8" name="TextBox 7"/>
          <p:cNvSpPr txBox="1"/>
          <p:nvPr/>
        </p:nvSpPr>
        <p:spPr>
          <a:xfrm>
            <a:off x="9418320" y="822960"/>
            <a:ext cx="2377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0"/>
              <a:t>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ABF0868E-1948-0088-3A5E-A5162750778D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Benefícios esperados:</a:t>
            </a:r>
            <a:endParaRPr lang="en-US" sz="3000" dirty="0">
              <a:solidFill>
                <a:schemeClr val="lt1"/>
              </a:solidFill>
              <a:latin typeface="Segoe UI"/>
              <a:ea typeface="Roboto"/>
              <a:cs typeface="Segoe UI"/>
            </a:endParaRP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1E944B-11A2-F754-A6D1-9127B46F9FEE}"/>
              </a:ext>
            </a:extLst>
          </p:cNvPr>
          <p:cNvSpPr txBox="1"/>
          <p:nvPr/>
        </p:nvSpPr>
        <p:spPr>
          <a:xfrm>
            <a:off x="556846" y="229576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B0710"/>
                </a:solidFill>
                <a:latin typeface="Segoe UI"/>
              </a:rPr>
              <a:t>GANHOS DO PROJETO</a:t>
            </a:r>
            <a:r>
              <a:rPr sz="12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pt-BR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/>
            </a:r>
            <a:endParaRPr lang="pt-BR" dirty="0"/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EC10B-F076-862E-3A28-A92BE3811E93}"/>
              </a:ext>
            </a:extLst>
          </p:cNvPr>
          <p:cNvSpPr txBox="1"/>
          <p:nvPr/>
        </p:nvSpPr>
        <p:spPr>
          <a:xfrm>
            <a:off x="478693" y="2784231"/>
            <a:ext cx="11850076" cy="37158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Redução de tempo por ação: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de ~25–35 min no processo 100% manual para ~2–4 min com o NEXUS — uma queda estimada de 70 a 85%.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Auditoria centralizada: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fim dos relatórios espalhados por servidor; toda ação em um único painel e banco de dados.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Menos erro humano: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elimina a digitação manual de comandos e de planilha CSV em ações críticas de acesso.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Detecção proativa de risco: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contas bloqueadas esquecidas deixam de depender da memória do analista — a IA sinaliza e o sistema remove automaticamente após 90 dias.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Sem custo adicional de operação: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a camada de IA roda localmente, sem chamadas de API paga e sem dado saindo da empresa.</a:t>
            </a:r>
            <a:endParaRPr lang="en-US" sz="1300" dirty="0"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  <p:sp>
        <p:nvSpPr>
          <p:cNvPr id="8" name="TextBox 7"/>
          <p:cNvSpPr txBox="1"/>
          <p:nvPr/>
        </p:nvSpPr>
        <p:spPr>
          <a:xfrm>
            <a:off x="9418320" y="822960"/>
            <a:ext cx="2377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0"/>
              <a:t>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ABF0868E-1948-0088-3A5E-A5162750778D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Riscos e controles:</a:t>
            </a:r>
            <a:endParaRPr lang="en-US" sz="3000" dirty="0">
              <a:solidFill>
                <a:schemeClr val="lt1"/>
              </a:solidFill>
              <a:latin typeface="Segoe UI"/>
              <a:ea typeface="Roboto"/>
              <a:cs typeface="Segoe UI"/>
            </a:endParaRP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1E944B-11A2-F754-A6D1-9127B46F9FEE}"/>
              </a:ext>
            </a:extLst>
          </p:cNvPr>
          <p:cNvSpPr txBox="1"/>
          <p:nvPr/>
        </p:nvSpPr>
        <p:spPr>
          <a:xfrm>
            <a:off x="556846" y="229576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B0710"/>
                </a:solidFill>
                <a:latin typeface="Segoe UI"/>
              </a:rPr>
              <a:t>RISCOS E CONTROLES</a:t>
            </a:r>
            <a:r>
              <a:rPr sz="12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pt-BR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/>
            </a:r>
            <a:endParaRPr lang="pt-BR" dirty="0"/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EC10B-F076-862E-3A28-A92BE3811E93}"/>
              </a:ext>
            </a:extLst>
          </p:cNvPr>
          <p:cNvSpPr txBox="1"/>
          <p:nvPr/>
        </p:nvSpPr>
        <p:spPr>
          <a:xfrm>
            <a:off x="478693" y="2784231"/>
            <a:ext cx="11850076" cy="37158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Ponto único de operação: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toda automação depende da VM ponte (chave SSH e banco de auditoria) — mitigado por backup periódico do banco e das credenciais do Ansible Vault.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Ações irreversíveis: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remoção e expurgo aplicam mudanças reais no servidor — o botão ‘Simular’ antes de ‘Aplicar’ é a prática padrão recomendada.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Remoção automática sem aprovação humana: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a expiração de 90 dias remove contas sozinha; é auditável e alertada com antecedência, mas é uma decisão de negócio a validar formalmente com a área responsável.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Concentração de credenciais: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a senha de sudo de cada servidor fica no Ansible Vault, na VM ponte — a chave SSH privada nunca sai dessa máquina.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Painel sem autenticação real: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hoje só se registra um nome de operador para auditoria, não uma senha de acesso — recomenda-se restringir a URL do painel por rede ou VPN.</a:t>
            </a:r>
            <a:endParaRPr lang="en-US" sz="1300" dirty="0"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  <p:sp>
        <p:nvSpPr>
          <p:cNvPr id="8" name="TextBox 7"/>
          <p:cNvSpPr txBox="1"/>
          <p:nvPr/>
        </p:nvSpPr>
        <p:spPr>
          <a:xfrm>
            <a:off x="9418320" y="822960"/>
            <a:ext cx="2377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0"/>
              <a:t>🛡️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ABF0868E-1948-0088-3A5E-A5162750778D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Roadmap: suporte a distribuições Linux antigas:</a:t>
            </a:r>
            <a:endParaRPr lang="en-US" sz="3000" dirty="0">
              <a:solidFill>
                <a:schemeClr val="lt1"/>
              </a:solidFill>
              <a:latin typeface="Segoe UI"/>
              <a:ea typeface="Roboto"/>
              <a:cs typeface="Segoe UI"/>
            </a:endParaRPr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1E944B-11A2-F754-A6D1-9127B46F9FEE}"/>
              </a:ext>
            </a:extLst>
          </p:cNvPr>
          <p:cNvSpPr txBox="1"/>
          <p:nvPr/>
        </p:nvSpPr>
        <p:spPr>
          <a:xfrm>
            <a:off x="556846" y="229576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B0710"/>
                </a:solidFill>
                <a:latin typeface="Segoe UI"/>
              </a:rPr>
              <a:t>PROPOSTA — FORA DO ESCOPO ATUAL</a:t>
            </a:r>
            <a:r>
              <a:rPr sz="1200" b="0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lang="pt-BR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: </a:t>
            </a:r>
            <a:endParaRPr lang="pt-BR" dirty="0"/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EC10B-F076-862E-3A28-A92BE3811E93}"/>
              </a:ext>
            </a:extLst>
          </p:cNvPr>
          <p:cNvSpPr txBox="1"/>
          <p:nvPr/>
        </p:nvSpPr>
        <p:spPr>
          <a:xfrm>
            <a:off x="478693" y="2784231"/>
            <a:ext cx="11850076" cy="37158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Motivação: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o servidor BR-CN-CTN-01 (CentOS 6.9, Python 2.6) mostrou que nem toda distribuição Linux é recente o suficiente para os módulos completos do Ansible.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 err="1">
                <a:solidFill>
                  <a:srgbClr val="FFFFFF"/>
                </a:solidFill>
                <a:latin typeface="Segoe UI"/>
                <a:cs typeface="Segoe UI"/>
              </a:rPr>
              <a:t>Situação atual: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esse servidor está cadastrado só para conectividade e leitura/importação de usuários existentes — nenhuma ação de criar, bloquear ou remover funciona nele.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Causa raiz: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os módulos do Ansible exigem Python 2.7+ no servidor de destino; Python 2.6 (2008) quebra esses módulos, independente do caminho do interpretador configurado.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Proposta: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instalar um Python novo, isolado (make altinstall, sem afetar o Python do sistema), e apontar o NEXUS para ele via host_vars — sem exigir reescrita da automação já existente.</a:t>
            </a:r>
            <a:endParaRPr lang="en-US" sz="1300" dirty="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Por que é roadmap: </a:t>
            </a:r>
            <a:r>
              <a:rPr lang="en-US" sz="1300" dirty="0" err="1">
                <a:solidFill>
                  <a:srgbClr val="EDE9F7"/>
                </a:solidFill>
                <a:latin typeface="Segoe UI"/>
                <a:cs typeface="Segoe UI"/>
              </a:rPr>
              <a:t>qualquer distro antiga o suficiente tem o mesmo problema — o objetivo é o NEXUS funcionar 100% em qualquer Linux, independente da idade.</a:t>
            </a:r>
            <a:endParaRPr lang="en-US" sz="1300" dirty="0"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  <p:sp>
        <p:nvSpPr>
          <p:cNvPr id="8" name="TextBox 7"/>
          <p:cNvSpPr txBox="1"/>
          <p:nvPr/>
        </p:nvSpPr>
        <p:spPr>
          <a:xfrm>
            <a:off x="9418320" y="822960"/>
            <a:ext cx="2377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0"/>
              <a:t>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aixaDeTexto 6">
            <a:extLst>
              <a:ext uri="{FF2B5EF4-FFF2-40B4-BE49-F238E27FC236}">
                <a16:creationId xmlns:a16="http://schemas.microsoft.com/office/drawing/2014/main" id="{93EDC774-FECA-BBB1-5576-731C5F19AB91}"/>
              </a:ext>
            </a:extLst>
          </p:cNvPr>
          <p:cNvSpPr txBox="1"/>
          <p:nvPr/>
        </p:nvSpPr>
        <p:spPr>
          <a:xfrm>
            <a:off x="1988039" y="1204871"/>
            <a:ext cx="854807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 err="1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Demonstração ao vivo</a:t>
            </a:r>
            <a:r>
              <a:rPr lang="en-US" sz="3000" b="1" dirty="0">
                <a:solidFill>
                  <a:schemeClr val="lt1"/>
                </a:solidFill>
                <a:latin typeface="Segoe UI"/>
                <a:ea typeface="Roboto"/>
                <a:cs typeface="Segoe UI"/>
              </a:rPr>
              <a:t>:</a:t>
            </a:r>
            <a:endParaRPr lang="pt-BR" dirty="0"/>
          </a:p>
          <a:p>
            <a:pPr algn="ctr"/>
            <a:endParaRPr lang="pt-BR">
              <a:ea typeface="Roboto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32F037-1AAC-A3B2-B95A-A7F87EE0CFA5}"/>
              </a:ext>
            </a:extLst>
          </p:cNvPr>
          <p:cNvSpPr txBox="1"/>
          <p:nvPr/>
        </p:nvSpPr>
        <p:spPr>
          <a:xfrm>
            <a:off x="576385" y="2618154"/>
            <a:ext cx="11039230" cy="2355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14999"/>
              </a:lnSpc>
            </a:pP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>Vamos ver o NEXUS funcionando na prática: cadastro de servidor, criação, bloqueio e remoção de usuário — tudo em tempo real.</a:t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endParaRPr lang="en-US" sz="3000" dirty="0" err="1">
              <a:latin typeface="Segoe UI"/>
              <a:cs typeface="Segoe UI"/>
            </a:endParaRPr>
          </a:p>
          <a:p>
            <a:pPr algn="ctr">
              <a:lnSpc>
                <a:spcPct val="114999"/>
              </a:lnSpc>
            </a:pP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 err="1">
                <a:solidFill>
                  <a:srgbClr val="FFFFFF"/>
                </a:solidFill>
                <a:latin typeface="Segoe UI"/>
                <a:cs typeface="Segoe UI"/>
              </a:rPr>
              <a:t/>
            </a:r>
            <a:r>
              <a:rPr lang="en-US" sz="3000" b="1" dirty="0">
                <a:solidFill>
                  <a:srgbClr val="FFFFFF"/>
                </a:solidFill>
                <a:latin typeface="Segoe UI"/>
                <a:cs typeface="Segoe UI"/>
              </a:rPr>
              <a:t/>
            </a:r>
            <a:endParaRPr lang="en-US" sz="3000">
              <a:latin typeface="Segoe UI"/>
              <a:cs typeface="Segoe UI"/>
            </a:endParaRPr>
          </a:p>
          <a:p>
            <a:pPr>
              <a:lnSpc>
                <a:spcPct val="112000"/>
              </a:lnSpc>
              <a:spcAft>
                <a:spcPts val="1800"/>
              </a:spcAft>
            </a:pPr>
            <a:endParaRPr lang="en-US" sz="1300" dirty="0">
              <a:solidFill>
                <a:srgbClr val="EDE9F7"/>
              </a:solidFill>
              <a:latin typeface="Segoe UI"/>
              <a:cs typeface="Segoe UI"/>
            </a:endParaRPr>
          </a:p>
          <a:p>
            <a:pPr algn="ctr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INK_">
      <a:dk1>
        <a:srgbClr val="141F29"/>
      </a:dk1>
      <a:lt1>
        <a:srgbClr val="FFFFFF"/>
      </a:lt1>
      <a:dk2>
        <a:srgbClr val="13416E"/>
      </a:dk2>
      <a:lt2>
        <a:srgbClr val="E3E5E5"/>
      </a:lt2>
      <a:accent1>
        <a:srgbClr val="13416E"/>
      </a:accent1>
      <a:accent2>
        <a:srgbClr val="4396D1"/>
      </a:accent2>
      <a:accent3>
        <a:srgbClr val="828C8D"/>
      </a:accent3>
      <a:accent4>
        <a:srgbClr val="F58A46"/>
      </a:accent4>
      <a:accent5>
        <a:srgbClr val="BED756"/>
      </a:accent5>
      <a:accent6>
        <a:srgbClr val="E3E5E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1A7FFEFED9E34FBD16B249DF8A0BA0" ma:contentTypeVersion="14" ma:contentTypeDescription="Crie um novo documento." ma:contentTypeScope="" ma:versionID="9a285894663936a368d81d1c8c2485f8">
  <xsd:schema xmlns:xsd="http://www.w3.org/2001/XMLSchema" xmlns:xs="http://www.w3.org/2001/XMLSchema" xmlns:p="http://schemas.microsoft.com/office/2006/metadata/properties" xmlns:ns2="997ac6ae-ddc1-446b-b8db-40167529b30d" xmlns:ns3="fb60bd21-bd03-48cf-857a-af5d3f72708a" targetNamespace="http://schemas.microsoft.com/office/2006/metadata/properties" ma:root="true" ma:fieldsID="c9117ec7bef2df9544174616cce15dfb" ns2:_="" ns3:_="">
    <xsd:import namespace="997ac6ae-ddc1-446b-b8db-40167529b30d"/>
    <xsd:import namespace="fb60bd21-bd03-48cf-857a-af5d3f7270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ac6ae-ddc1-446b-b8db-40167529b3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cea4983b-02ba-4c5e-9986-3cf8d0b778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0bd21-bd03-48cf-857a-af5d3f72708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2989f71-26bb-4fd2-89fb-0835f7b2f6cd}" ma:internalName="TaxCatchAll" ma:showField="CatchAllData" ma:web="fb60bd21-bd03-48cf-857a-af5d3f7270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60bd21-bd03-48cf-857a-af5d3f72708a" xsi:nil="true"/>
    <lcf76f155ced4ddcb4097134ff3c332f xmlns="997ac6ae-ddc1-446b-b8db-40167529b30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BF2B1C5-8FD5-4513-8411-660A0E0D9034}">
  <ds:schemaRefs>
    <ds:schemaRef ds:uri="997ac6ae-ddc1-446b-b8db-40167529b30d"/>
    <ds:schemaRef ds:uri="fb60bd21-bd03-48cf-857a-af5d3f7270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57BF325-0F99-4651-B526-46B5C32A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97FAF-F003-4853-A8DE-604E6381EFDA}">
  <ds:schemaRefs>
    <ds:schemaRef ds:uri="851ef0f4-14ec-4e66-b4fb-c8984e14b6c0"/>
    <ds:schemaRef ds:uri="997ac6ae-ddc1-446b-b8db-40167529b30d"/>
    <ds:schemaRef ds:uri="aa24fb7f-8742-4292-a877-96220bdff94c"/>
    <ds:schemaRef ds:uri="fb60bd21-bd03-48cf-857a-af5d3f72708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30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Arthur</dc:creator>
  <cp:revision>287</cp:revision>
  <dcterms:modified xsi:type="dcterms:W3CDTF">2026-09-22T15:52:09Z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0x010100BC1A7FFEFED9E34FBD16B249DF8A0BA0</vt:lpwstr>
  </property>
  <property fmtid="{D5CDD505-2E9C-101B-9397-08002B2CF9AE}" pid="3" name="MediaServiceImageTags">
    <vt:lpwstr/>
  </property>
  <property fmtid="{D5CDD505-2E9C-101B-9397-08002B2CF9AE}" pid="4" name="Order">
    <vt:r8>2849800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