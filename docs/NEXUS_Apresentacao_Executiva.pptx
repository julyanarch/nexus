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286000"/>
            <a:ext cx="6400800" cy="6400800"/>
          </a:xfrm>
          <a:prstGeom prst="ellipse">
            <a:avLst/>
          </a:prstGeom>
          <a:solidFill>
            <a:srgbClr val="2A0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r>
              <a:t>PROJETO DE ESTÁGIO · INTELIGÊNCIA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64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 b="0">
                <a:solidFill>
                  <a:srgbClr val="EDE9F7"/>
                </a:solidFill>
                <a:latin typeface="Segoe UI"/>
              </a:defRPr>
            </a:pPr>
            <a:r>
              <a:t>Automação e Inteligência Artificial local para a gestão de usuários</a:t>
            </a:r>
            <a:br/>
            <a:r>
              <a:t>em múltiplos servidores Linux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DE9F7"/>
                </a:solidFill>
                <a:latin typeface="Segoe UI"/>
              </a:defRPr>
            </a:pPr>
            <a:r>
              <a:t>Julyana Silva  ·  Grupo Think</a:t>
            </a:r>
          </a:p>
          <a:p>
            <a:pPr>
              <a:defRPr sz="1300">
                <a:solidFill>
                  <a:srgbClr val="A99FC0"/>
                </a:solidFill>
                <a:latin typeface="Segoe UI"/>
              </a:defRPr>
            </a:pPr>
            <a:r>
              <a:t>Tecnologia da Informação — Infraestrutura de Servidores  · 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Hoje enfrentamos um processo manual e sem auditoria</a:t>
            </a:r>
            <a:br/>
            <a:r>
              <a:t>centralizada na gestão de usuários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10881360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10241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200"/>
              </a:spcAft>
            </a:pPr>
            <a:r>
              <a:rPr b="1" sz="1800">
                <a:solidFill>
                  <a:srgbClr val="FFFFFF"/>
                </a:solidFill>
                <a:latin typeface="Segoe UI"/>
              </a:rPr>
              <a:t>Área: </a:t>
            </a:r>
            <a:r>
              <a:rPr sz="1800">
                <a:solidFill>
                  <a:srgbClr val="EDE9F7"/>
                </a:solidFill>
                <a:latin typeface="Segoe UI"/>
              </a:rPr>
              <a:t>Tecnologia da Informação — Infraestrutura de Servidores e Segurança da Informação.</a:t>
            </a:r>
          </a:p>
          <a:p>
            <a:pPr>
              <a:lnSpc>
                <a:spcPct val="112000"/>
              </a:lnSpc>
              <a:spcAft>
                <a:spcPts val="2200"/>
              </a:spcAft>
            </a:pPr>
            <a:r>
              <a:rPr b="1" sz="1800">
                <a:solidFill>
                  <a:srgbClr val="FFFFFF"/>
                </a:solidFill>
                <a:latin typeface="Segoe UI"/>
              </a:rPr>
              <a:t>Objetivo do processo: </a:t>
            </a:r>
            <a:r>
              <a:rPr sz="1800">
                <a:solidFill>
                  <a:srgbClr val="EDE9F7"/>
                </a:solidFill>
                <a:latin typeface="Segoe UI"/>
              </a:rPr>
              <a:t>garantir que a criação, o bloqueio e a remoção de contas Linux aconteçam de forma correta, rastreável e dentro do prazo, em todos os servidores relevantes.</a:t>
            </a:r>
          </a:p>
          <a:p>
            <a:pPr>
              <a:lnSpc>
                <a:spcPct val="112000"/>
              </a:lnSpc>
              <a:spcAft>
                <a:spcPts val="2200"/>
              </a:spcAft>
            </a:pPr>
            <a:r>
              <a:rPr b="1" sz="1800">
                <a:solidFill>
                  <a:srgbClr val="FFFFFF"/>
                </a:solidFill>
                <a:latin typeface="Segoe UI"/>
              </a:rPr>
              <a:t>Quem é impactado: </a:t>
            </a:r>
            <a:r>
              <a:rPr sz="1800">
                <a:solidFill>
                  <a:srgbClr val="EDE9F7"/>
                </a:solidFill>
                <a:latin typeface="Segoe UI"/>
              </a:rPr>
              <a:t>analistas de infraestrutura/segurança (executores diretos), gestores de segurança e compliance (dependem da auditoria), colaboradores da empresa (usuários finais das contas) e a diretoria (visibilidade executiva).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DOR DO NEGÓCIO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Gargalos e impactos reais no dia a dia da operação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7568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GARGALOS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4709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Ausência de auditoria centralizada — logs espalhados por servidor.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Senha de sudo pedida a cada execução, em cada servidor.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Sem alerta para contas bloqueadas esquecidas.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Campos como grupo e shell em texto livre, sem validação.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Nenhuma visão executiva — só logs técnicos.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2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07568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IMPACTOS NO NEGÓCIO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96312"/>
            <a:ext cx="4709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500">
                <a:solidFill>
                  <a:srgbClr val="FFFFFF"/>
                </a:solidFill>
                <a:latin typeface="Segoe UI"/>
              </a:rPr>
              <a:t>Risco de segurança: </a:t>
            </a:r>
            <a:r>
              <a:rPr sz="1500">
                <a:solidFill>
                  <a:srgbClr val="EDE9F7"/>
                </a:solidFill>
                <a:latin typeface="Segoe UI"/>
              </a:rPr>
              <a:t>contas esquecidas são superfície de ataque.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500">
                <a:solidFill>
                  <a:srgbClr val="FFFFFF"/>
                </a:solidFill>
                <a:latin typeface="Segoe UI"/>
              </a:rPr>
              <a:t>Risco de compliance: </a:t>
            </a:r>
            <a:r>
              <a:rPr sz="1500">
                <a:solidFill>
                  <a:srgbClr val="EDE9F7"/>
                </a:solidFill>
                <a:latin typeface="Segoe UI"/>
              </a:rPr>
              <a:t>difícil comprovar que o desligamento de acesso foi seguido.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500">
                <a:solidFill>
                  <a:srgbClr val="FFFFFF"/>
                </a:solidFill>
                <a:latin typeface="Segoe UI"/>
              </a:rPr>
              <a:t>Custo operacional: </a:t>
            </a:r>
            <a:r>
              <a:rPr sz="1500">
                <a:solidFill>
                  <a:srgbClr val="EDE9F7"/>
                </a:solidFill>
                <a:latin typeface="Segoe UI"/>
              </a:rPr>
              <a:t>tempo do analista em tarefas repetitivas e mecânicas.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500">
                <a:solidFill>
                  <a:srgbClr val="FFFFFF"/>
                </a:solidFill>
                <a:latin typeface="Segoe UI"/>
              </a:rPr>
              <a:t>Erro humano: </a:t>
            </a:r>
            <a:r>
              <a:rPr sz="1500">
                <a:solidFill>
                  <a:srgbClr val="EDE9F7"/>
                </a:solidFill>
                <a:latin typeface="Segoe UI"/>
              </a:rPr>
              <a:t>planilha manual é fonte recorrente de inconsistência.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PROCESSO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Evolução do processo até o NEXUS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29000" cy="411480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2167128"/>
            <a:ext cx="2971800" cy="292608"/>
          </a:xfrm>
          <a:prstGeom prst="roundRect">
            <a:avLst>
              <a:gd name="adj" fmla="val 50000"/>
            </a:avLst>
          </a:prstGeom>
          <a:solidFill>
            <a:srgbClr val="A99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0B0710"/>
                </a:solidFill>
                <a:latin typeface="Segoe UI"/>
              </a:defRPr>
            </a:pPr>
            <a:r>
              <a:t>ESTÁGIO 1 · HISTÓRICO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  <a:latin typeface="Segoe UI"/>
              </a:defRPr>
            </a:pPr>
            <a:r>
              <a:t>100%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Login e senha em cada servidor, um de cada vez</a:t>
            </a:r>
          </a:p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Comandos Linux digitados um a um (useradd, usermod -L, userdel...)</a:t>
            </a:r>
          </a:p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Sem script, sem CSV, sem log de auditoria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8640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~25–35 min / 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8" y="37947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B5CF6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965960"/>
            <a:ext cx="3429000" cy="411480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17720" y="2167128"/>
            <a:ext cx="297180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0B0710"/>
                </a:solidFill>
                <a:latin typeface="Segoe UI"/>
              </a:defRPr>
            </a:pPr>
            <a:r>
              <a:t>ESTÁGIO 2 · BASELINE DESTE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587752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  <a:latin typeface="Segoe UI"/>
              </a:defRPr>
            </a:pPr>
            <a:r>
              <a:t>Protótipo script +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0040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nexus_remote.sh + servidores.conf + usuarios.csv</a:t>
            </a:r>
          </a:p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Senha de sudo pedida a cada execução, por servidor</a:t>
            </a:r>
          </a:p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Relatórios TXT/JSON/CSV espalhados por servidor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548640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~15–20 min / 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7947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B5CF6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965960"/>
            <a:ext cx="3429000" cy="411480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66760" y="2167128"/>
            <a:ext cx="2971800" cy="29260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0B0710"/>
                </a:solidFill>
                <a:latin typeface="Segoe UI"/>
              </a:defRPr>
            </a:pPr>
            <a:r>
              <a:t>NEXUS · SOLUÇÃO ATUAL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587752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  <a:latin typeface="Segoe UI"/>
              </a:defRPr>
            </a:pPr>
            <a:r>
              <a:t>Dashboard + Ansible +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20040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Senha configurada uma única vez por servidor</a:t>
            </a:r>
          </a:p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Execução em lote, orquestrada, com auditoria central</a:t>
            </a:r>
          </a:p>
          <a:p>
            <a:pPr>
              <a:lnSpc>
                <a:spcPct val="112000"/>
              </a:lnSpc>
              <a:spcAft>
                <a:spcPts val="10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IA local resume a situação de cada usuário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548640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Estimativa: −70 a −85% do tempo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150" b="0">
                <a:solidFill>
                  <a:srgbClr val="A99FC0"/>
                </a:solidFill>
                <a:latin typeface="Segoe UI"/>
              </a:defRPr>
            </a:pPr>
            <a:r>
              <a:t>O Estágio 2 é o ponto de partida deste projeto de IA — o Estágio 1 é contexto histórico que dimensiona o ganho real.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SOLUÇÃO COM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Onde a Inteligência Artificial entra no NEXUS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6400800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600">
                <a:solidFill>
                  <a:srgbClr val="FFFFFF"/>
                </a:solidFill>
                <a:latin typeface="Segoe UI"/>
              </a:rPr>
              <a:t>O quê: </a:t>
            </a:r>
            <a:r>
              <a:rPr sz="1600">
                <a:solidFill>
                  <a:srgbClr val="EDE9F7"/>
                </a:solidFill>
                <a:latin typeface="Segoe UI"/>
              </a:rPr>
              <a:t>motor de regras local (ai_engine.py), embutido na própria aplicação.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600">
                <a:solidFill>
                  <a:srgbClr val="FFFFFF"/>
                </a:solidFill>
                <a:latin typeface="Segoe UI"/>
              </a:rPr>
              <a:t>Como funciona: </a:t>
            </a:r>
            <a:r>
              <a:rPr sz="1600">
                <a:solidFill>
                  <a:srgbClr val="EDE9F7"/>
                </a:solidFill>
                <a:latin typeface="Segoe UI"/>
              </a:rPr>
              <a:t>lê status, grupos, dias bloqueado e histórico de comandos, e gera um resumo em português + fatos estruturados, em tempo real.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600">
                <a:solidFill>
                  <a:srgbClr val="FFFFFF"/>
                </a:solidFill>
                <a:latin typeface="Segoe UI"/>
              </a:rPr>
              <a:t>Qual decisão apoia: </a:t>
            </a:r>
            <a:r>
              <a:rPr sz="1600">
                <a:solidFill>
                  <a:srgbClr val="EDE9F7"/>
                </a:solidFill>
                <a:latin typeface="Segoe UI"/>
              </a:rPr>
              <a:t>"esta conta precisa de atenção agora, e por quê?" — sem o analista cruzar campos manualmente.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600">
                <a:solidFill>
                  <a:srgbClr val="FFFFFF"/>
                </a:solidFill>
                <a:latin typeface="Segoe UI"/>
              </a:rPr>
              <a:t>Tecnologia: </a:t>
            </a:r>
            <a:r>
              <a:rPr sz="1600">
                <a:solidFill>
                  <a:srgbClr val="EDE9F7"/>
                </a:solidFill>
                <a:latin typeface="Segoe UI"/>
              </a:rPr>
              <a:t>IA baseada em regras (sistema especialista), não um modelo de linguagem (LLM) e sem API externa.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874520"/>
            <a:ext cx="4206240" cy="4206240"/>
          </a:xfrm>
          <a:prstGeom prst="roundRect">
            <a:avLst>
              <a:gd name="adj" fmla="val 4500"/>
            </a:avLst>
          </a:prstGeom>
          <a:solidFill>
            <a:srgbClr val="2A0A4A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21488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200" b="1">
                <a:solidFill>
                  <a:srgbClr val="8B5CF6"/>
                </a:solidFill>
                <a:latin typeface="Segoe UI"/>
              </a:defRPr>
            </a:pPr>
            <a:r>
              <a:t>POR QUE REGRAS, NÃO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560320"/>
            <a:ext cx="3566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  <a:defRPr sz="1450">
                <a:solidFill>
                  <a:srgbClr val="EDE9F7"/>
                </a:solidFill>
                <a:latin typeface="Segoe UI"/>
              </a:defRPr>
            </a:pPr>
            <a:r>
              <a:t>Auditável — toda decisão é rastreável no código</a:t>
            </a:r>
          </a:p>
          <a:p>
            <a:pPr>
              <a:lnSpc>
                <a:spcPct val="112000"/>
              </a:lnSpc>
              <a:spcAft>
                <a:spcPts val="1600"/>
              </a:spcAft>
              <a:defRPr sz="1450">
                <a:solidFill>
                  <a:srgbClr val="EDE9F7"/>
                </a:solidFill>
                <a:latin typeface="Segoe UI"/>
              </a:defRPr>
            </a:pPr>
            <a:r>
              <a:t>Sem custo por chamada de API</a:t>
            </a:r>
          </a:p>
          <a:p>
            <a:pPr>
              <a:lnSpc>
                <a:spcPct val="112000"/>
              </a:lnSpc>
              <a:spcAft>
                <a:spcPts val="1600"/>
              </a:spcAft>
              <a:defRPr sz="1450">
                <a:solidFill>
                  <a:srgbClr val="EDE9F7"/>
                </a:solidFill>
                <a:latin typeface="Segoe UI"/>
              </a:defRPr>
            </a:pPr>
            <a:r>
              <a:t>Nenhum dado de servidor/usuário sai da empresa</a:t>
            </a:r>
          </a:p>
          <a:p>
            <a:pPr>
              <a:lnSpc>
                <a:spcPct val="112000"/>
              </a:lnSpc>
              <a:spcAft>
                <a:spcPts val="1600"/>
              </a:spcAft>
              <a:defRPr sz="1450">
                <a:solidFill>
                  <a:srgbClr val="EDE9F7"/>
                </a:solidFill>
                <a:latin typeface="Segoe UI"/>
              </a:defRPr>
            </a:pPr>
            <a:r>
              <a:t>Roda dentro da própria aplicação, em 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PROCESSO PROPOSTO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Fluxo TO BE — antes x depois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10881360" cy="457200"/>
          </a:xfrm>
          <a:prstGeom prst="roundRect">
            <a:avLst>
              <a:gd name="adj" fmla="val 4500"/>
            </a:avLst>
          </a:prstGeom>
          <a:solidFill>
            <a:srgbClr val="150E21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476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200" b="1">
                <a:solidFill>
                  <a:srgbClr val="A99FC0"/>
                </a:solidFill>
                <a:latin typeface="Segoe UI"/>
              </a:defRPr>
            </a:pPr>
            <a:r>
              <a:t>ETAPA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947672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200" b="1">
                <a:solidFill>
                  <a:srgbClr val="F87171"/>
                </a:solidFill>
                <a:latin typeface="Segoe UI"/>
              </a:defRPr>
            </a:pPr>
            <a:r>
              <a:t>AS IS (ANTES)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47672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200" b="1">
                <a:solidFill>
                  <a:srgbClr val="34D399"/>
                </a:solidFill>
                <a:latin typeface="Segoe UI"/>
              </a:defRPr>
            </a:pPr>
            <a:r>
              <a:t>TO BE (NEXUS)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386584"/>
            <a:ext cx="10881360" cy="566928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78024"/>
            <a:ext cx="2011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Autenticação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4780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Senha de sudo a cada execução, por servidor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478024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Configurada 1 vez por servidor — nunca mais pedida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08376"/>
            <a:ext cx="10881360" cy="566928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9816"/>
            <a:ext cx="2011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Execução em lote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0998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Um servidor por vez, manual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099816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Seleção múltipla, orquestrada via Ansible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30168"/>
            <a:ext cx="10881360" cy="566928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21608"/>
            <a:ext cx="2011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Simulação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72160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Comando separado, no terminal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721608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Botão "Simular" na mesma tela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51960"/>
            <a:ext cx="10881360" cy="566928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43400"/>
            <a:ext cx="2011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Auditoria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34340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Logs TXT/JSON/CSV dispersos por servidor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343400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Tabela única, filtrável, com paginação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873752"/>
            <a:ext cx="10881360" cy="566928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65192"/>
            <a:ext cx="2011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Contas esquecidas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496519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Sem alerta — dependia de checagem manual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965192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Alerta aos 80 dias, remoção automática aos 90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95544"/>
            <a:ext cx="10881360" cy="566928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86984"/>
            <a:ext cx="2011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Visão executiva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558698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Inexistente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5586984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50" b="0">
                <a:solidFill>
                  <a:srgbClr val="EDE9F7"/>
                </a:solidFill>
                <a:latin typeface="Segoe UI"/>
              </a:defRPr>
            </a:pPr>
            <a:r>
              <a:t>Painel com indicadores e gráficos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EXEMPLO PRÁTICO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O que a IA local mostra na prática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10881360" cy="1737360"/>
          </a:xfrm>
          <a:prstGeom prst="roundRect">
            <a:avLst>
              <a:gd name="adj" fmla="val 4500"/>
            </a:avLst>
          </a:prstGeom>
          <a:solidFill>
            <a:srgbClr val="2A0A4A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30552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i="1" sz="1900">
                <a:solidFill>
                  <a:srgbClr val="FFFFFF"/>
                </a:solidFill>
                <a:latin typeface="Segoe UI"/>
              </a:defRPr>
            </a:pPr>
            <a:r>
              <a:t>"joao.silva está bloqueado há 82 dia(s) — restam 8 dia(s) até a remoção automática. </a:t>
            </a:r>
          </a:p>
          <a:p>
            <a:pPr>
              <a:defRPr i="1" sz="1900">
                <a:solidFill>
                  <a:srgbClr val="FFFFFF"/>
                </a:solidFill>
                <a:latin typeface="Segoe UI"/>
              </a:defRPr>
            </a:pPr>
            <a:r>
              <a:t>Próximo do limite: será removido automaticamente pelo NEXUS se não houver ação manual antes disso."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200" b="0">
                <a:solidFill>
                  <a:srgbClr val="A99FC0"/>
                </a:solidFill>
                <a:latin typeface="Segoe UI"/>
              </a:defRPr>
            </a:pPr>
            <a:r>
              <a:t>— gerado automaticamente pelo painel “IA NEXUS”, sem intervenção manual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60520"/>
            <a:ext cx="10881360" cy="173736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Sem o NEXUS: essa informação exigiria rodar chage -l manualmente, servidor por servidor.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500">
                <a:solidFill>
                  <a:srgbClr val="EDE9F7"/>
                </a:solidFill>
                <a:latin typeface="Segoe UI"/>
              </a:defRPr>
            </a:pPr>
            <a:r>
              <a:t>Com o NEXUS: calculada em tempo real a partir de LOCK_MAX_DAYS = 90 e LOCK_WARNING_DAYS = 80, cruzando a data real de bloqueio gravada no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BENEFÍCIOS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O que o NEXUS entrega de fato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7568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4709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Menos tempo por ação: </a:t>
            </a:r>
            <a:r>
              <a:rPr sz="1450">
                <a:solidFill>
                  <a:srgbClr val="EDE9F7"/>
                </a:solidFill>
                <a:latin typeface="Segoe UI"/>
              </a:rPr>
              <a:t>estimativa de −70% a −85% (a confirmar em produção).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Menos erros: </a:t>
            </a:r>
            <a:r>
              <a:rPr sz="1450">
                <a:solidFill>
                  <a:srgbClr val="EDE9F7"/>
                </a:solidFill>
                <a:latin typeface="Segoe UI"/>
              </a:rPr>
              <a:t>campos validados, senha com regra mínima de complexidade.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Auditoria unificada: </a:t>
            </a:r>
            <a:r>
              <a:rPr sz="1450">
                <a:solidFill>
                  <a:srgbClr val="EDE9F7"/>
                </a:solidFill>
                <a:latin typeface="Segoe UI"/>
              </a:rPr>
              <a:t>uma única tabela, filtrável, com paginação.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Detecção proativa: </a:t>
            </a:r>
            <a:r>
              <a:rPr sz="1450">
                <a:solidFill>
                  <a:srgbClr val="EDE9F7"/>
                </a:solidFill>
                <a:latin typeface="Segoe UI"/>
              </a:rPr>
              <a:t>contas esquecidas identificadas e removidas sozinhas.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2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07568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ESTRATÉGICOS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96312"/>
            <a:ext cx="4709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Compliance: </a:t>
            </a:r>
            <a:r>
              <a:rPr sz="1450">
                <a:solidFill>
                  <a:srgbClr val="EDE9F7"/>
                </a:solidFill>
                <a:latin typeface="Segoe UI"/>
              </a:rPr>
              <a:t>rastreabilidade completa de quem fez o quê, quando e por quê.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Escalabilidade: </a:t>
            </a:r>
            <a:r>
              <a:rPr sz="1450">
                <a:solidFill>
                  <a:srgbClr val="EDE9F7"/>
                </a:solidFill>
                <a:latin typeface="Segoe UI"/>
              </a:rPr>
              <a:t>novo servidor = cadastro simples, com testes automáticos.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Independência: </a:t>
            </a:r>
            <a:r>
              <a:rPr sz="1450">
                <a:solidFill>
                  <a:srgbClr val="EDE9F7"/>
                </a:solidFill>
                <a:latin typeface="Segoe UI"/>
              </a:rPr>
              <a:t>IA local, sem custo recorrente de API externa.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b="1" sz="1450">
                <a:solidFill>
                  <a:srgbClr val="FFFFFF"/>
                </a:solidFill>
                <a:latin typeface="Segoe UI"/>
              </a:rPr>
              <a:t>Base para o futuro: </a:t>
            </a:r>
            <a:r>
              <a:rPr sz="1450">
                <a:solidFill>
                  <a:srgbClr val="EDE9F7"/>
                </a:solidFill>
                <a:latin typeface="Segoe UI"/>
              </a:rPr>
              <a:t>dados centralizados viabilizam evoluções futuras.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RISCOS E 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Transparência sobre onde o sistema pode falhar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3502152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73152" cy="42062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03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F87171"/>
                </a:solidFill>
                <a:latin typeface="Segoe UI"/>
              </a:defRPr>
            </a:pPr>
            <a:r>
              <a:t>TÉCNICOS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560320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IA de regras erra se os dados de origem estiverem errados (ex.: sessão SSH aberta)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Qualidade da análise depende da coleta via Ansible/SSH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74520"/>
            <a:ext cx="3502152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74520"/>
            <a:ext cx="73152" cy="42062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103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FBBF24"/>
                </a:solidFill>
                <a:latin typeface="Segoe UI"/>
              </a:defRPr>
            </a:pPr>
            <a:r>
              <a:t>OPERACIONAIS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560320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Ponto único: VM ponte concentra chave SSH e banco de auditoria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Remoção automática de 90 dias ocorre sem aprovação humana no momento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874520"/>
            <a:ext cx="3502152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874520"/>
            <a:ext cx="73152" cy="4206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2103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ÉTICOS / SEGURANÇA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2560320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Comprometer a VM ponte expõe credenciais de todos os servidores geridos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00">
                <a:solidFill>
                  <a:srgbClr val="EDE9F7"/>
                </a:solidFill>
                <a:latin typeface="Segoe UI"/>
              </a:defRPr>
            </a:pPr>
            <a:r>
              <a:t>Painel não tem login/senha — só identificação por nome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TRABALHOS FUTUROS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Roadmap: suporte a servidores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0B0710"/>
                </a:solidFill>
                <a:latin typeface="Segoe UI"/>
              </a:defRPr>
            </a:pPr>
            <a:r>
              <a:t>PROPOSTA — FORA DO ESCOPO ATUAL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10881360" cy="370332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10241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550">
                <a:solidFill>
                  <a:srgbClr val="FFFFFF"/>
                </a:solidFill>
                <a:latin typeface="Segoe UI"/>
              </a:rPr>
              <a:t>Motivação: </a:t>
            </a:r>
            <a:r>
              <a:rPr sz="1550">
                <a:solidFill>
                  <a:srgbClr val="EDE9F7"/>
                </a:solidFill>
                <a:latin typeface="Segoe UI"/>
              </a:rPr>
              <a:t>estender o mesmo conceito (painel único, auditoria, IA local) para servidores Windows.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550">
                <a:solidFill>
                  <a:srgbClr val="FFFFFF"/>
                </a:solidFill>
                <a:latin typeface="Segoe UI"/>
              </a:rPr>
              <a:t>Principal desafio: </a:t>
            </a:r>
            <a:r>
              <a:rPr sz="1550">
                <a:solidFill>
                  <a:srgbClr val="EDE9F7"/>
                </a:solidFill>
                <a:latin typeface="Segoe UI"/>
              </a:rPr>
              <a:t>SSH → WinRM; useradd/usermod/userdel → PowerShell ou Active Directory; sem conceito de "sudo".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550">
                <a:solidFill>
                  <a:srgbClr val="FFFFFF"/>
                </a:solidFill>
                <a:latin typeface="Segoe UI"/>
              </a:rPr>
              <a:t>Proposta de arquitetura: </a:t>
            </a:r>
            <a:r>
              <a:rPr sz="1550">
                <a:solidFill>
                  <a:srgbClr val="EDE9F7"/>
                </a:solidFill>
                <a:latin typeface="Segoe UI"/>
              </a:rPr>
              <a:t>reaproveitar o mesmo Flask + SQLite + Ansible, trocando SSH por WinRM via a coleção oficial ansible.windows (win_user etc.), com novos playbooks Windows.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b="1" sz="1550">
                <a:solidFill>
                  <a:srgbClr val="FFFFFF"/>
                </a:solidFill>
                <a:latin typeface="Segoe UI"/>
              </a:rPr>
              <a:t>Pontos em aberto: </a:t>
            </a:r>
            <a:r>
              <a:rPr sz="1550">
                <a:solidFill>
                  <a:srgbClr val="EDE9F7"/>
                </a:solidFill>
                <a:latin typeface="Segoe UI"/>
              </a:rPr>
              <a:t>contas locais x Active Directory; credencial de serviço delegada; coleta de histórico de comandos (sem equivalente ao bash_history).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11480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3566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VIABILIDADE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t>Ferramentas, esforço e prazo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20"/>
            <a:ext cx="3502152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FERRAMENTAS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60320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Flask + Jinja2 (Python)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Ansible + ansible-runner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SQLite + APScheduler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Sem custo de licença/API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874520"/>
            <a:ext cx="3502152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2103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ESFORÇO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560320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Reaproveita lógica já testada (nexus_sanitize_users.sh)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IA local não exige treinamento de modelo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Escopo mantido enxuto de propósito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874520"/>
            <a:ext cx="3502152" cy="4206240"/>
          </a:xfrm>
          <a:prstGeom prst="roundRect">
            <a:avLst>
              <a:gd name="adj" fmla="val 4500"/>
            </a:avLst>
          </a:prstGeom>
          <a:solidFill>
            <a:srgbClr val="1B1229"/>
          </a:solidFill>
          <a:ln w="12700">
            <a:solidFill>
              <a:srgbClr val="332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103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PRAZO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560320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Já em uso operacional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Curto prazo: medir tempo real, backup de credenciais</a:t>
            </a:r>
          </a:p>
          <a:p>
            <a:pPr>
              <a:lnSpc>
                <a:spcPct val="112000"/>
              </a:lnSpc>
              <a:spcAft>
                <a:spcPts val="1400"/>
              </a:spcAft>
              <a:defRPr sz="1350">
                <a:solidFill>
                  <a:srgbClr val="EDE9F7"/>
                </a:solidFill>
                <a:latin typeface="Segoe UI"/>
              </a:defRPr>
            </a:pPr>
            <a:r>
              <a:t>Próximos passos: roadmap Windows (seção anterior)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99FC0"/>
                </a:solidFill>
                <a:latin typeface="Segoe UI"/>
              </a:defRPr>
            </a:pPr>
            <a:r>
              <a:t>NEXUS — Gestão de Usuários com Automação e IA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99FC0"/>
                </a:solidFill>
                <a:latin typeface="Segoe U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1828800"/>
            <a:ext cx="6400800" cy="6400800"/>
          </a:xfrm>
          <a:prstGeom prst="ellipse">
            <a:avLst/>
          </a:prstGeom>
          <a:solidFill>
            <a:srgbClr val="2A0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r>
              <a:t>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Esse projeto contribui diretamente para a eficiência operacional e a</a:t>
            </a:r>
          </a:p>
          <a:p>
            <a:pPr>
              <a:lnSpc>
                <a:spcPct val="115000"/>
              </a:lnSpc>
              <a:defRPr sz="3000" b="1">
                <a:solidFill>
                  <a:srgbClr val="FFFFFF"/>
                </a:solidFill>
                <a:latin typeface="Segoe UI"/>
              </a:defRPr>
            </a:pPr>
            <a:r>
              <a:t>segurança da infraestrutura de servidores da empresa.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800" b="0">
                <a:solidFill>
                  <a:srgbClr val="A99FC0"/>
                </a:solidFill>
                <a:latin typeface="Segoe UI"/>
              </a:defRPr>
            </a:pPr>
            <a:r>
              <a:t>Obrigada.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1300" b="0">
                <a:solidFill>
                  <a:srgbClr val="A99FC0"/>
                </a:solidFill>
                <a:latin typeface="Segoe UI"/>
              </a:defRPr>
            </a:pPr>
            <a:r>
              <a:t>Julyana Silva  ·  julyana.silva@grupothink.com.br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